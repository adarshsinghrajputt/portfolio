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Support Tickets</c:v>
                </c:pt>
              </c:strCache>
            </c:strRef>
          </c:tx>
          <c:spPr>
            <a:solidFill>
              <a:schemeClr val="accent1"/>
            </a:solidFill>
            <a:ln w="9525" cap="flat">
              <a:solidFill>
                <a:srgbClr val="F9F9F9"/>
              </a:solidFill>
              <a:prstDash val="solid"/>
              <a:round/>
            </a:ln>
            <a:effectLst/>
          </c:spPr>
          <c:dPt>
            <c:idx val="0"/>
            <c:bubble3D val="0"/>
            <c:spPr>
              <a:solidFill>
                <a:srgbClr val="D63A1A"/>
              </a:solidFill>
              <a:effectLst/>
            </c:spPr>
          </c:dPt>
          <c:dPt>
            <c:idx val="1"/>
            <c:bubble3D val="0"/>
            <c:spPr>
              <a:solidFill>
                <a:srgbClr val="FF6B35"/>
              </a:solidFill>
              <a:effectLst/>
            </c:spPr>
          </c:dPt>
          <c:dPt>
            <c:idx val="2"/>
            <c:bubble3D val="0"/>
            <c:spPr>
              <a:solidFill>
                <a:srgbClr val="777777"/>
              </a:solidFill>
              <a:effectLst/>
            </c:spPr>
          </c:dPt>
          <c:dPt>
            <c:idx val="3"/>
            <c:bubble3D val="0"/>
            <c:spPr>
              <a:solidFill>
                <a:srgbClr val="333333"/>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WISMO</c:v>
                </c:pt>
                <c:pt idx="1">
                  <c:v>Return/Refund</c:v>
                </c:pt>
                <c:pt idx="2">
                  <c:v>Wrong/Damaged</c:v>
                </c:pt>
                <c:pt idx="3">
                  <c:v>Other</c:v>
                </c:pt>
              </c:strCache>
            </c:strRef>
          </c:cat>
          <c:val>
            <c:numRef>
              <c:f>Sheet1!$B$2:$B$5</c:f>
              <c:numCache>
                <c:ptCount val="4"/>
                <c:pt idx="0">
                  <c:v>34</c:v>
                </c:pt>
                <c:pt idx="1">
                  <c:v>28</c:v>
                </c:pt>
                <c:pt idx="2">
                  <c:v>12</c:v>
                </c:pt>
                <c:pt idx="3">
                  <c:v>26</c:v>
                </c:pt>
              </c:numCache>
            </c:numRef>
          </c:val>
        </c:ser>
        <c:firstSliceAng val="0"/>
        <c:holeSize val="50"/>
      </c:doughnutChart>
      <c:spPr>
        <a:noFill/>
        <a:ln>
          <a:noFill/>
        </a:ln>
        <a:effectLst/>
      </c:spPr>
    </c:plotArea>
    <c:legend>
      <c:legendPos val="r"/>
      <c:overlay val="0"/>
      <c:txPr>
        <a:bodyPr/>
        <a:lstStyle/>
        <a:p>
          <a:pPr>
            <a:defRPr sz="900">
              <a:solidFill>
                <a:srgbClr val="777777"/>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5943600" y="-1371600"/>
            <a:ext cx="4572000" cy="4572000"/>
          </a:xfrm>
          <a:prstGeom prst="ellipse">
            <a:avLst/>
          </a:prstGeom>
          <a:solidFill>
            <a:srgbClr val="D63A1A">
              <a:alpha val="15000"/>
            </a:srgbClr>
          </a:solidFill>
          <a:ln/>
        </p:spPr>
      </p:sp>
      <p:sp>
        <p:nvSpPr>
          <p:cNvPr id="3" name="Shape 1"/>
          <p:cNvSpPr/>
          <p:nvPr/>
        </p:nvSpPr>
        <p:spPr>
          <a:xfrm>
            <a:off x="-1371600" y="3200400"/>
            <a:ext cx="3200400" cy="3200400"/>
          </a:xfrm>
          <a:prstGeom prst="ellipse">
            <a:avLst/>
          </a:prstGeom>
          <a:solidFill>
            <a:srgbClr val="D63A1A">
              <a:alpha val="10000"/>
            </a:srgbClr>
          </a:solidFill>
          <a:ln/>
        </p:spPr>
      </p:sp>
      <p:sp>
        <p:nvSpPr>
          <p:cNvPr id="4" name="Text 2"/>
          <p:cNvSpPr/>
          <p:nvPr/>
        </p:nvSpPr>
        <p:spPr>
          <a:xfrm>
            <a:off x="731520" y="1371600"/>
            <a:ext cx="777240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POP Shop Fulfillment</a:t>
            </a:r>
            <a:endParaRPr lang="en-US" sz="4400" dirty="0"/>
          </a:p>
        </p:txBody>
      </p:sp>
      <p:sp>
        <p:nvSpPr>
          <p:cNvPr id="5" name="Text 3"/>
          <p:cNvSpPr/>
          <p:nvPr/>
        </p:nvSpPr>
        <p:spPr>
          <a:xfrm>
            <a:off x="731520" y="2286000"/>
            <a:ext cx="7772400" cy="457200"/>
          </a:xfrm>
          <a:prstGeom prst="rect">
            <a:avLst/>
          </a:prstGeom>
          <a:noFill/>
          <a:ln/>
        </p:spPr>
        <p:txBody>
          <a:bodyPr wrap="square" lIns="0" tIns="0" rIns="0" bIns="0" rtlCol="0" anchor="ctr"/>
          <a:lstStyle/>
          <a:p>
            <a:pPr indent="0" marL="0">
              <a:buNone/>
            </a:pPr>
            <a:r>
              <a:rPr lang="en-US" sz="2000" dirty="0">
                <a:solidFill>
                  <a:srgbClr val="FF6B35"/>
                </a:solidFill>
                <a:latin typeface="Calibri" pitchFamily="34" charset="0"/>
                <a:ea typeface="Calibri" pitchFamily="34" charset="-122"/>
                <a:cs typeface="Calibri" pitchFamily="34" charset="-120"/>
              </a:rPr>
              <a:t>Post-Order Experience Redesign</a:t>
            </a:r>
            <a:endParaRPr lang="en-US" sz="2000" dirty="0"/>
          </a:p>
        </p:txBody>
      </p:sp>
      <p:sp>
        <p:nvSpPr>
          <p:cNvPr id="6" name="Text 4"/>
          <p:cNvSpPr/>
          <p:nvPr/>
        </p:nvSpPr>
        <p:spPr>
          <a:xfrm>
            <a:off x="731520" y="3200400"/>
            <a:ext cx="7772400" cy="365760"/>
          </a:xfrm>
          <a:prstGeom prst="rect">
            <a:avLst/>
          </a:prstGeom>
          <a:noFill/>
          <a:ln/>
        </p:spPr>
        <p:txBody>
          <a:bodyPr wrap="square" lIns="0" tIns="0" rIns="0" bIns="0" rtlCol="0" anchor="ctr"/>
          <a:lstStyle/>
          <a:p>
            <a:pPr indent="0" marL="0">
              <a:buNone/>
            </a:pPr>
            <a:r>
              <a:rPr lang="en-US" sz="1400" dirty="0">
                <a:solidFill>
                  <a:srgbClr val="777777"/>
                </a:solidFill>
                <a:latin typeface="Calibri" pitchFamily="34" charset="0"/>
                <a:ea typeface="Calibri" pitchFamily="34" charset="-122"/>
                <a:cs typeface="Calibri" pitchFamily="34" charset="-120"/>
              </a:rPr>
              <a:t>Adarsh Raj</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548640" y="320040"/>
            <a:ext cx="8229600" cy="5029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Task 1: The Support Data</a:t>
            </a:r>
            <a:endParaRPr lang="en-US" sz="3000" dirty="0"/>
          </a:p>
        </p:txBody>
      </p:sp>
      <p:sp>
        <p:nvSpPr>
          <p:cNvPr id="3" name="Text 1"/>
          <p:cNvSpPr/>
          <p:nvPr/>
        </p:nvSpPr>
        <p:spPr>
          <a:xfrm>
            <a:off x="548640" y="914400"/>
            <a:ext cx="8046720" cy="365760"/>
          </a:xfrm>
          <a:prstGeom prst="rect">
            <a:avLst/>
          </a:prstGeom>
          <a:noFill/>
          <a:ln/>
        </p:spPr>
        <p:txBody>
          <a:bodyPr wrap="square" lIns="0" tIns="0" rIns="0" bIns="0" rtlCol="0" anchor="ctr"/>
          <a:lstStyle/>
          <a:p>
            <a:pPr indent="0" marL="0">
              <a:buNone/>
            </a:pPr>
            <a:r>
              <a:rPr lang="en-US" sz="1300" dirty="0">
                <a:solidFill>
                  <a:srgbClr val="AAAAAA"/>
                </a:solidFill>
                <a:latin typeface="Calibri" pitchFamily="34" charset="0"/>
                <a:ea typeface="Calibri" pitchFamily="34" charset="-122"/>
                <a:cs typeface="Calibri" pitchFamily="34" charset="-120"/>
              </a:rPr>
              <a:t>50,000 monthly orders across fashion, beauty, and electronics. 18% of users who place an order never come back.</a:t>
            </a:r>
            <a:endParaRPr lang="en-US" sz="1300" dirty="0"/>
          </a:p>
        </p:txBody>
      </p:sp>
      <p:sp>
        <p:nvSpPr>
          <p:cNvPr id="4" name="Shape 2"/>
          <p:cNvSpPr/>
          <p:nvPr/>
        </p:nvSpPr>
        <p:spPr>
          <a:xfrm>
            <a:off x="548640" y="1554480"/>
            <a:ext cx="2606040" cy="1645920"/>
          </a:xfrm>
          <a:prstGeom prst="roundRect">
            <a:avLst>
              <a:gd name="adj" fmla="val 5556"/>
            </a:avLst>
          </a:prstGeom>
          <a:solidFill>
            <a:srgbClr val="2A0E08"/>
          </a:solidFill>
          <a:ln w="25400">
            <a:solidFill>
              <a:srgbClr val="D63A1A"/>
            </a:solidFill>
            <a:prstDash val="solid"/>
          </a:ln>
          <a:effectLst>
            <a:outerShdw sx="100000" sy="100000" kx="0" ky="0" algn="bl" rotWithShape="0" blurRad="101600" dist="25400" dir="2700000">
              <a:srgbClr val="000000">
                <a:alpha val="35000"/>
              </a:srgbClr>
            </a:outerShdw>
          </a:effectLst>
        </p:spPr>
      </p:sp>
      <p:sp>
        <p:nvSpPr>
          <p:cNvPr id="5" name="Text 3"/>
          <p:cNvSpPr/>
          <p:nvPr/>
        </p:nvSpPr>
        <p:spPr>
          <a:xfrm>
            <a:off x="548640" y="1600200"/>
            <a:ext cx="2606040" cy="914400"/>
          </a:xfrm>
          <a:prstGeom prst="rect">
            <a:avLst/>
          </a:prstGeom>
          <a:noFill/>
          <a:ln/>
        </p:spPr>
        <p:txBody>
          <a:bodyPr wrap="square" lIns="0" tIns="0" rIns="0" bIns="0" rtlCol="0" anchor="ctr"/>
          <a:lstStyle/>
          <a:p>
            <a:pPr algn="ctr" indent="0" marL="0">
              <a:buNone/>
            </a:pPr>
            <a:r>
              <a:rPr lang="en-US" sz="4200" b="1" dirty="0">
                <a:solidFill>
                  <a:srgbClr val="FF6B35"/>
                </a:solidFill>
                <a:latin typeface="Calibri" pitchFamily="34" charset="0"/>
                <a:ea typeface="Calibri" pitchFamily="34" charset="-122"/>
                <a:cs typeface="Calibri" pitchFamily="34" charset="-120"/>
              </a:rPr>
              <a:t>34%</a:t>
            </a:r>
            <a:endParaRPr lang="en-US" sz="4200" dirty="0"/>
          </a:p>
        </p:txBody>
      </p:sp>
      <p:sp>
        <p:nvSpPr>
          <p:cNvPr id="6" name="Text 4"/>
          <p:cNvSpPr/>
          <p:nvPr/>
        </p:nvSpPr>
        <p:spPr>
          <a:xfrm>
            <a:off x="548640" y="2468880"/>
            <a:ext cx="26060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WISMO</a:t>
            </a:r>
            <a:endParaRPr lang="en-US" sz="1400" dirty="0"/>
          </a:p>
        </p:txBody>
      </p:sp>
      <p:sp>
        <p:nvSpPr>
          <p:cNvPr id="7" name="Text 5"/>
          <p:cNvSpPr/>
          <p:nvPr/>
        </p:nvSpPr>
        <p:spPr>
          <a:xfrm>
            <a:off x="548640" y="2788920"/>
            <a:ext cx="2606040" cy="274320"/>
          </a:xfrm>
          <a:prstGeom prst="rect">
            <a:avLst/>
          </a:prstGeom>
          <a:noFill/>
          <a:ln/>
        </p:spPr>
        <p:txBody>
          <a:bodyPr wrap="square" lIns="0" tIns="0" rIns="0" bIns="0" rtlCol="0" anchor="ctr"/>
          <a:lstStyle/>
          <a:p>
            <a:pPr algn="ctr" indent="0" marL="0">
              <a:buNone/>
            </a:pPr>
            <a:r>
              <a:rPr lang="en-US" sz="1000" dirty="0">
                <a:solidFill>
                  <a:srgbClr val="777777"/>
                </a:solidFill>
                <a:latin typeface="Calibri" pitchFamily="34" charset="0"/>
                <a:ea typeface="Calibri" pitchFamily="34" charset="-122"/>
                <a:cs typeface="Calibri" pitchFamily="34" charset="-120"/>
              </a:rPr>
              <a:t>Where is my order</a:t>
            </a:r>
            <a:endParaRPr lang="en-US" sz="1000" dirty="0"/>
          </a:p>
        </p:txBody>
      </p:sp>
      <p:sp>
        <p:nvSpPr>
          <p:cNvPr id="8" name="Shape 6"/>
          <p:cNvSpPr/>
          <p:nvPr/>
        </p:nvSpPr>
        <p:spPr>
          <a:xfrm>
            <a:off x="3429000" y="1554480"/>
            <a:ext cx="2606040" cy="1645920"/>
          </a:xfrm>
          <a:prstGeom prst="roundRect">
            <a:avLst>
              <a:gd name="adj" fmla="val 5556"/>
            </a:avLst>
          </a:prstGeom>
          <a:solidFill>
            <a:srgbClr val="161616"/>
          </a:solidFill>
          <a:ln w="6350">
            <a:solidFill>
              <a:srgbClr val="262626"/>
            </a:solidFill>
            <a:prstDash val="solid"/>
          </a:ln>
          <a:effectLst>
            <a:outerShdw sx="100000" sy="100000" kx="0" ky="0" algn="bl" rotWithShape="0" blurRad="101600" dist="25400" dir="2700000">
              <a:srgbClr val="000000">
                <a:alpha val="35000"/>
              </a:srgbClr>
            </a:outerShdw>
          </a:effectLst>
        </p:spPr>
      </p:sp>
      <p:sp>
        <p:nvSpPr>
          <p:cNvPr id="9" name="Text 7"/>
          <p:cNvSpPr/>
          <p:nvPr/>
        </p:nvSpPr>
        <p:spPr>
          <a:xfrm>
            <a:off x="3429000" y="1600200"/>
            <a:ext cx="2606040" cy="914400"/>
          </a:xfrm>
          <a:prstGeom prst="rect">
            <a:avLst/>
          </a:prstGeom>
          <a:noFill/>
          <a:ln/>
        </p:spPr>
        <p:txBody>
          <a:bodyPr wrap="square" lIns="0" tIns="0" rIns="0" bIns="0" rtlCol="0" anchor="ctr"/>
          <a:lstStyle/>
          <a:p>
            <a:pPr algn="ctr" indent="0" marL="0">
              <a:buNone/>
            </a:pPr>
            <a:r>
              <a:rPr lang="en-US" sz="4200" b="1" dirty="0">
                <a:solidFill>
                  <a:srgbClr val="777777"/>
                </a:solidFill>
                <a:latin typeface="Calibri" pitchFamily="34" charset="0"/>
                <a:ea typeface="Calibri" pitchFamily="34" charset="-122"/>
                <a:cs typeface="Calibri" pitchFamily="34" charset="-120"/>
              </a:rPr>
              <a:t>28%</a:t>
            </a:r>
            <a:endParaRPr lang="en-US" sz="4200" dirty="0"/>
          </a:p>
        </p:txBody>
      </p:sp>
      <p:sp>
        <p:nvSpPr>
          <p:cNvPr id="10" name="Text 8"/>
          <p:cNvSpPr/>
          <p:nvPr/>
        </p:nvSpPr>
        <p:spPr>
          <a:xfrm>
            <a:off x="3429000" y="2468880"/>
            <a:ext cx="2606040" cy="320040"/>
          </a:xfrm>
          <a:prstGeom prst="rect">
            <a:avLst/>
          </a:prstGeom>
          <a:noFill/>
          <a:ln/>
        </p:spPr>
        <p:txBody>
          <a:bodyPr wrap="square" lIns="0" tIns="0" rIns="0" bIns="0" rtlCol="0" anchor="ctr"/>
          <a:lstStyle/>
          <a:p>
            <a:pPr algn="ctr" indent="0" marL="0">
              <a:buNone/>
            </a:pPr>
            <a:r>
              <a:rPr lang="en-US" sz="1400" b="1" dirty="0">
                <a:solidFill>
                  <a:srgbClr val="AAAAAA"/>
                </a:solidFill>
                <a:latin typeface="Calibri" pitchFamily="34" charset="0"/>
                <a:ea typeface="Calibri" pitchFamily="34" charset="-122"/>
                <a:cs typeface="Calibri" pitchFamily="34" charset="-120"/>
              </a:rPr>
              <a:t>Return / Refund</a:t>
            </a:r>
            <a:endParaRPr lang="en-US" sz="1400" dirty="0"/>
          </a:p>
        </p:txBody>
      </p:sp>
      <p:sp>
        <p:nvSpPr>
          <p:cNvPr id="11" name="Text 9"/>
          <p:cNvSpPr/>
          <p:nvPr/>
        </p:nvSpPr>
        <p:spPr>
          <a:xfrm>
            <a:off x="3429000" y="2788920"/>
            <a:ext cx="2606040" cy="274320"/>
          </a:xfrm>
          <a:prstGeom prst="rect">
            <a:avLst/>
          </a:prstGeom>
          <a:noFill/>
          <a:ln/>
        </p:spPr>
        <p:txBody>
          <a:bodyPr wrap="square" lIns="0" tIns="0" rIns="0" bIns="0" rtlCol="0" anchor="ctr"/>
          <a:lstStyle/>
          <a:p>
            <a:pPr algn="ctr" indent="0" marL="0">
              <a:buNone/>
            </a:pPr>
            <a:r>
              <a:rPr lang="en-US" sz="1000" dirty="0">
                <a:solidFill>
                  <a:srgbClr val="777777"/>
                </a:solidFill>
                <a:latin typeface="Calibri" pitchFamily="34" charset="0"/>
                <a:ea typeface="Calibri" pitchFamily="34" charset="-122"/>
                <a:cs typeface="Calibri" pitchFamily="34" charset="-120"/>
              </a:rPr>
              <a:t>Return or refund status</a:t>
            </a:r>
            <a:endParaRPr lang="en-US" sz="1000" dirty="0"/>
          </a:p>
        </p:txBody>
      </p:sp>
      <p:sp>
        <p:nvSpPr>
          <p:cNvPr id="12" name="Shape 10"/>
          <p:cNvSpPr/>
          <p:nvPr/>
        </p:nvSpPr>
        <p:spPr>
          <a:xfrm>
            <a:off x="6309360" y="1554480"/>
            <a:ext cx="2606040" cy="1645920"/>
          </a:xfrm>
          <a:prstGeom prst="roundRect">
            <a:avLst>
              <a:gd name="adj" fmla="val 5556"/>
            </a:avLst>
          </a:prstGeom>
          <a:solidFill>
            <a:srgbClr val="161616"/>
          </a:solidFill>
          <a:ln w="6350">
            <a:solidFill>
              <a:srgbClr val="262626"/>
            </a:solidFill>
            <a:prstDash val="solid"/>
          </a:ln>
          <a:effectLst>
            <a:outerShdw sx="100000" sy="100000" kx="0" ky="0" algn="bl" rotWithShape="0" blurRad="101600" dist="25400" dir="2700000">
              <a:srgbClr val="000000">
                <a:alpha val="35000"/>
              </a:srgbClr>
            </a:outerShdw>
          </a:effectLst>
        </p:spPr>
      </p:sp>
      <p:sp>
        <p:nvSpPr>
          <p:cNvPr id="13" name="Text 11"/>
          <p:cNvSpPr/>
          <p:nvPr/>
        </p:nvSpPr>
        <p:spPr>
          <a:xfrm>
            <a:off x="6309360" y="1600200"/>
            <a:ext cx="2606040" cy="914400"/>
          </a:xfrm>
          <a:prstGeom prst="rect">
            <a:avLst/>
          </a:prstGeom>
          <a:noFill/>
          <a:ln/>
        </p:spPr>
        <p:txBody>
          <a:bodyPr wrap="square" lIns="0" tIns="0" rIns="0" bIns="0" rtlCol="0" anchor="ctr"/>
          <a:lstStyle/>
          <a:p>
            <a:pPr algn="ctr" indent="0" marL="0">
              <a:buNone/>
            </a:pPr>
            <a:r>
              <a:rPr lang="en-US" sz="4200" b="1" dirty="0">
                <a:solidFill>
                  <a:srgbClr val="777777"/>
                </a:solidFill>
                <a:latin typeface="Calibri" pitchFamily="34" charset="0"/>
                <a:ea typeface="Calibri" pitchFamily="34" charset="-122"/>
                <a:cs typeface="Calibri" pitchFamily="34" charset="-120"/>
              </a:rPr>
              <a:t>12%</a:t>
            </a:r>
            <a:endParaRPr lang="en-US" sz="4200" dirty="0"/>
          </a:p>
        </p:txBody>
      </p:sp>
      <p:sp>
        <p:nvSpPr>
          <p:cNvPr id="14" name="Text 12"/>
          <p:cNvSpPr/>
          <p:nvPr/>
        </p:nvSpPr>
        <p:spPr>
          <a:xfrm>
            <a:off x="6309360" y="2468880"/>
            <a:ext cx="2606040" cy="320040"/>
          </a:xfrm>
          <a:prstGeom prst="rect">
            <a:avLst/>
          </a:prstGeom>
          <a:noFill/>
          <a:ln/>
        </p:spPr>
        <p:txBody>
          <a:bodyPr wrap="square" lIns="0" tIns="0" rIns="0" bIns="0" rtlCol="0" anchor="ctr"/>
          <a:lstStyle/>
          <a:p>
            <a:pPr algn="ctr" indent="0" marL="0">
              <a:buNone/>
            </a:pPr>
            <a:r>
              <a:rPr lang="en-US" sz="1400" b="1" dirty="0">
                <a:solidFill>
                  <a:srgbClr val="AAAAAA"/>
                </a:solidFill>
                <a:latin typeface="Calibri" pitchFamily="34" charset="0"/>
                <a:ea typeface="Calibri" pitchFamily="34" charset="-122"/>
                <a:cs typeface="Calibri" pitchFamily="34" charset="-120"/>
              </a:rPr>
              <a:t>Wrong / Damaged</a:t>
            </a:r>
            <a:endParaRPr lang="en-US" sz="1400" dirty="0"/>
          </a:p>
        </p:txBody>
      </p:sp>
      <p:sp>
        <p:nvSpPr>
          <p:cNvPr id="15" name="Text 13"/>
          <p:cNvSpPr/>
          <p:nvPr/>
        </p:nvSpPr>
        <p:spPr>
          <a:xfrm>
            <a:off x="6309360" y="2788920"/>
            <a:ext cx="2606040" cy="274320"/>
          </a:xfrm>
          <a:prstGeom prst="rect">
            <a:avLst/>
          </a:prstGeom>
          <a:noFill/>
          <a:ln/>
        </p:spPr>
        <p:txBody>
          <a:bodyPr wrap="square" lIns="0" tIns="0" rIns="0" bIns="0" rtlCol="0" anchor="ctr"/>
          <a:lstStyle/>
          <a:p>
            <a:pPr algn="ctr" indent="0" marL="0">
              <a:buNone/>
            </a:pPr>
            <a:r>
              <a:rPr lang="en-US" sz="1000" dirty="0">
                <a:solidFill>
                  <a:srgbClr val="777777"/>
                </a:solidFill>
                <a:latin typeface="Calibri" pitchFamily="34" charset="0"/>
                <a:ea typeface="Calibri" pitchFamily="34" charset="-122"/>
                <a:cs typeface="Calibri" pitchFamily="34" charset="-120"/>
              </a:rPr>
              <a:t>Wrong item or damaged delivery</a:t>
            </a:r>
            <a:endParaRPr lang="en-US" sz="1000" dirty="0"/>
          </a:p>
        </p:txBody>
      </p:sp>
      <p:sp>
        <p:nvSpPr>
          <p:cNvPr id="16" name="Text 14"/>
          <p:cNvSpPr/>
          <p:nvPr/>
        </p:nvSpPr>
        <p:spPr>
          <a:xfrm>
            <a:off x="548640" y="3520440"/>
            <a:ext cx="8046720" cy="365760"/>
          </a:xfrm>
          <a:prstGeom prst="rect">
            <a:avLst/>
          </a:prstGeom>
          <a:noFill/>
          <a:ln/>
        </p:spPr>
        <p:txBody>
          <a:bodyPr wrap="square" lIns="0" tIns="0" rIns="0" bIns="0" rtlCol="0" anchor="ctr"/>
          <a:lstStyle/>
          <a:p>
            <a:pPr indent="0" marL="0">
              <a:buNone/>
            </a:pPr>
            <a:r>
              <a:rPr lang="en-US" sz="1200" dirty="0">
                <a:solidFill>
                  <a:srgbClr val="777777"/>
                </a:solidFill>
                <a:latin typeface="Calibri" pitchFamily="34" charset="0"/>
                <a:ea typeface="Calibri" pitchFamily="34" charset="-122"/>
                <a:cs typeface="Calibri" pitchFamily="34" charset="-120"/>
              </a:rPr>
              <a:t>The obvious move is to pick WISMO because it is the biggest number. But I wanted to check if this actually matches what real users are saying.</a:t>
            </a:r>
            <a:endParaRPr lang="en-US" sz="1200" dirty="0"/>
          </a:p>
        </p:txBody>
      </p:sp>
      <p:graphicFrame>
        <p:nvGraphicFramePr>
          <p:cNvPr id="17" name="Chart 0" descr=""/>
          <p:cNvGraphicFramePr/>
          <p:nvPr/>
        </p:nvGraphicFramePr>
        <p:xfrm>
          <a:off x="2286000" y="3840480"/>
          <a:ext cx="2286000" cy="118872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548640" y="320040"/>
            <a:ext cx="8229600" cy="5029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Task 1: What Real Users Are Saying</a:t>
            </a:r>
            <a:endParaRPr lang="en-US" sz="3000" dirty="0"/>
          </a:p>
        </p:txBody>
      </p:sp>
      <p:sp>
        <p:nvSpPr>
          <p:cNvPr id="3" name="Text 1"/>
          <p:cNvSpPr/>
          <p:nvPr/>
        </p:nvSpPr>
        <p:spPr>
          <a:xfrm>
            <a:off x="548640" y="914400"/>
            <a:ext cx="8046720" cy="320040"/>
          </a:xfrm>
          <a:prstGeom prst="rect">
            <a:avLst/>
          </a:prstGeom>
          <a:noFill/>
          <a:ln/>
        </p:spPr>
        <p:txBody>
          <a:bodyPr wrap="square" lIns="0" tIns="0" rIns="0" bIns="0" rtlCol="0" anchor="ctr"/>
          <a:lstStyle/>
          <a:p>
            <a:pPr indent="0" marL="0">
              <a:buNone/>
            </a:pPr>
            <a:r>
              <a:rPr lang="en-US" sz="1300" dirty="0">
                <a:solidFill>
                  <a:srgbClr val="AAAAAA"/>
                </a:solidFill>
                <a:latin typeface="Calibri" pitchFamily="34" charset="0"/>
                <a:ea typeface="Calibri" pitchFamily="34" charset="-122"/>
                <a:cs typeface="Calibri" pitchFamily="34" charset="-120"/>
              </a:rPr>
              <a:t>I went through around 70 recent Play Store reviews for POP. Most of them were 1-star.</a:t>
            </a:r>
            <a:endParaRPr lang="en-US" sz="1300" dirty="0"/>
          </a:p>
        </p:txBody>
      </p:sp>
      <p:sp>
        <p:nvSpPr>
          <p:cNvPr id="4" name="Shape 2"/>
          <p:cNvSpPr/>
          <p:nvPr/>
        </p:nvSpPr>
        <p:spPr>
          <a:xfrm>
            <a:off x="548640" y="1371600"/>
            <a:ext cx="8046720" cy="731520"/>
          </a:xfrm>
          <a:prstGeom prst="roundRect">
            <a:avLst>
              <a:gd name="adj" fmla="val 10000"/>
            </a:avLst>
          </a:prstGeom>
          <a:solidFill>
            <a:srgbClr val="2A0E08"/>
          </a:solidFill>
          <a:ln w="12700">
            <a:solidFill>
              <a:srgbClr val="D63A1A"/>
            </a:solidFill>
            <a:prstDash val="solid"/>
          </a:ln>
        </p:spPr>
      </p:sp>
      <p:sp>
        <p:nvSpPr>
          <p:cNvPr id="5" name="Text 3"/>
          <p:cNvSpPr/>
          <p:nvPr/>
        </p:nvSpPr>
        <p:spPr>
          <a:xfrm>
            <a:off x="731520" y="1371600"/>
            <a:ext cx="7680960" cy="731520"/>
          </a:xfrm>
          <a:prstGeom prst="rect">
            <a:avLst/>
          </a:prstGeom>
          <a:noFill/>
          <a:ln/>
        </p:spPr>
        <p:txBody>
          <a:bodyPr wrap="square" lIns="0" tIns="0" rIns="0" bIns="0" rtlCol="0" anchor="ctr"/>
          <a:lstStyle/>
          <a:p>
            <a:pPr indent="0" marL="0">
              <a:buNone/>
            </a:pPr>
            <a:r>
              <a:rPr lang="en-US" sz="1300" dirty="0">
                <a:solidFill>
                  <a:srgbClr val="AAAAAA"/>
                </a:solidFill>
                <a:latin typeface="Calibri" pitchFamily="34" charset="0"/>
                <a:ea typeface="Calibri" pitchFamily="34" charset="-122"/>
                <a:cs typeface="Calibri" pitchFamily="34" charset="-120"/>
              </a:rPr>
              <a:t>Every review, regardless of the actual issue, had the same underlying frustration: </a:t>
            </a:r>
            <a:pPr indent="0" marL="0">
              <a:buNone/>
            </a:pPr>
            <a:r>
              <a:rPr lang="en-US" sz="1300" b="1" dirty="0">
                <a:solidFill>
                  <a:srgbClr val="FFFFFF"/>
                </a:solidFill>
                <a:latin typeface="Calibri" pitchFamily="34" charset="0"/>
                <a:ea typeface="Calibri" pitchFamily="34" charset="-122"/>
                <a:cs typeface="Calibri" pitchFamily="34" charset="-120"/>
              </a:rPr>
              <a:t>the user had no visibility into what was happening and POP was not communicating anything.</a:t>
            </a:r>
            <a:endParaRPr lang="en-US" sz="1300" dirty="0"/>
          </a:p>
        </p:txBody>
      </p:sp>
      <p:sp>
        <p:nvSpPr>
          <p:cNvPr id="6" name="Shape 4"/>
          <p:cNvSpPr/>
          <p:nvPr/>
        </p:nvSpPr>
        <p:spPr>
          <a:xfrm>
            <a:off x="548640" y="2331720"/>
            <a:ext cx="8046720" cy="411480"/>
          </a:xfrm>
          <a:prstGeom prst="roundRect">
            <a:avLst>
              <a:gd name="adj" fmla="val 11111"/>
            </a:avLst>
          </a:prstGeom>
          <a:solidFill>
            <a:srgbClr val="161616"/>
          </a:solidFill>
          <a:ln/>
        </p:spPr>
      </p:sp>
      <p:sp>
        <p:nvSpPr>
          <p:cNvPr id="7" name="Text 5"/>
          <p:cNvSpPr/>
          <p:nvPr/>
        </p:nvSpPr>
        <p:spPr>
          <a:xfrm>
            <a:off x="777240" y="2331720"/>
            <a:ext cx="7589520" cy="411480"/>
          </a:xfrm>
          <a:prstGeom prst="rect">
            <a:avLst/>
          </a:prstGeom>
          <a:noFill/>
          <a:ln/>
        </p:spPr>
        <p:txBody>
          <a:bodyPr wrap="square" lIns="0" tIns="0" rIns="0" bIns="0" rtlCol="0" anchor="ctr"/>
          <a:lstStyle/>
          <a:p>
            <a:pPr indent="0" marL="0">
              <a:buNone/>
            </a:pPr>
            <a:r>
              <a:rPr lang="en-US" sz="1100" dirty="0">
                <a:solidFill>
                  <a:srgbClr val="AAAAAA"/>
                </a:solidFill>
                <a:latin typeface="Calibri" pitchFamily="34" charset="0"/>
                <a:ea typeface="Calibri" pitchFamily="34" charset="-122"/>
                <a:cs typeface="Calibri" pitchFamily="34" charset="-120"/>
              </a:rPr>
              <a:t>Orders marked undelivered without any delivery attempt or call to the customer</a:t>
            </a:r>
            <a:endParaRPr lang="en-US" sz="1100" dirty="0"/>
          </a:p>
        </p:txBody>
      </p:sp>
      <p:sp>
        <p:nvSpPr>
          <p:cNvPr id="8" name="Shape 6"/>
          <p:cNvSpPr/>
          <p:nvPr/>
        </p:nvSpPr>
        <p:spPr>
          <a:xfrm>
            <a:off x="548640" y="2834640"/>
            <a:ext cx="8046720" cy="411480"/>
          </a:xfrm>
          <a:prstGeom prst="roundRect">
            <a:avLst>
              <a:gd name="adj" fmla="val 11111"/>
            </a:avLst>
          </a:prstGeom>
          <a:solidFill>
            <a:srgbClr val="161616"/>
          </a:solidFill>
          <a:ln/>
        </p:spPr>
      </p:sp>
      <p:sp>
        <p:nvSpPr>
          <p:cNvPr id="9" name="Text 7"/>
          <p:cNvSpPr/>
          <p:nvPr/>
        </p:nvSpPr>
        <p:spPr>
          <a:xfrm>
            <a:off x="777240" y="2834640"/>
            <a:ext cx="7589520" cy="411480"/>
          </a:xfrm>
          <a:prstGeom prst="rect">
            <a:avLst/>
          </a:prstGeom>
          <a:noFill/>
          <a:ln/>
        </p:spPr>
        <p:txBody>
          <a:bodyPr wrap="square" lIns="0" tIns="0" rIns="0" bIns="0" rtlCol="0" anchor="ctr"/>
          <a:lstStyle/>
          <a:p>
            <a:pPr indent="0" marL="0">
              <a:buNone/>
            </a:pPr>
            <a:r>
              <a:rPr lang="en-US" sz="1100" dirty="0">
                <a:solidFill>
                  <a:srgbClr val="AAAAAA"/>
                </a:solidFill>
                <a:latin typeface="Calibri" pitchFamily="34" charset="0"/>
                <a:ea typeface="Calibri" pitchFamily="34" charset="-122"/>
                <a:cs typeface="Calibri" pitchFamily="34" charset="-120"/>
              </a:rPr>
              <a:t>Refunds pending for weeks with no timeline given by support</a:t>
            </a:r>
            <a:endParaRPr lang="en-US" sz="1100" dirty="0"/>
          </a:p>
        </p:txBody>
      </p:sp>
      <p:sp>
        <p:nvSpPr>
          <p:cNvPr id="10" name="Shape 8"/>
          <p:cNvSpPr/>
          <p:nvPr/>
        </p:nvSpPr>
        <p:spPr>
          <a:xfrm>
            <a:off x="548640" y="3337560"/>
            <a:ext cx="8046720" cy="411480"/>
          </a:xfrm>
          <a:prstGeom prst="roundRect">
            <a:avLst>
              <a:gd name="adj" fmla="val 11111"/>
            </a:avLst>
          </a:prstGeom>
          <a:solidFill>
            <a:srgbClr val="161616"/>
          </a:solidFill>
          <a:ln/>
        </p:spPr>
      </p:sp>
      <p:sp>
        <p:nvSpPr>
          <p:cNvPr id="11" name="Text 9"/>
          <p:cNvSpPr/>
          <p:nvPr/>
        </p:nvSpPr>
        <p:spPr>
          <a:xfrm>
            <a:off x="777240" y="3337560"/>
            <a:ext cx="7589520" cy="411480"/>
          </a:xfrm>
          <a:prstGeom prst="rect">
            <a:avLst/>
          </a:prstGeom>
          <a:noFill/>
          <a:ln/>
        </p:spPr>
        <p:txBody>
          <a:bodyPr wrap="square" lIns="0" tIns="0" rIns="0" bIns="0" rtlCol="0" anchor="ctr"/>
          <a:lstStyle/>
          <a:p>
            <a:pPr indent="0" marL="0">
              <a:buNone/>
            </a:pPr>
            <a:r>
              <a:rPr lang="en-US" sz="1100" dirty="0">
                <a:solidFill>
                  <a:srgbClr val="AAAAAA"/>
                </a:solidFill>
                <a:latin typeface="Calibri" pitchFamily="34" charset="0"/>
                <a:ea typeface="Calibri" pitchFamily="34" charset="-122"/>
                <a:cs typeface="Calibri" pitchFamily="34" charset="-120"/>
              </a:rPr>
              <a:t>Support sending the same copy-paste reply every time without actually solving anything</a:t>
            </a:r>
            <a:endParaRPr lang="en-US" sz="1100" dirty="0"/>
          </a:p>
        </p:txBody>
      </p:sp>
      <p:sp>
        <p:nvSpPr>
          <p:cNvPr id="12" name="Shape 10"/>
          <p:cNvSpPr/>
          <p:nvPr/>
        </p:nvSpPr>
        <p:spPr>
          <a:xfrm>
            <a:off x="548640" y="3840480"/>
            <a:ext cx="8046720" cy="411480"/>
          </a:xfrm>
          <a:prstGeom prst="roundRect">
            <a:avLst>
              <a:gd name="adj" fmla="val 11111"/>
            </a:avLst>
          </a:prstGeom>
          <a:solidFill>
            <a:srgbClr val="161616"/>
          </a:solidFill>
          <a:ln/>
        </p:spPr>
      </p:sp>
      <p:sp>
        <p:nvSpPr>
          <p:cNvPr id="13" name="Text 11"/>
          <p:cNvSpPr/>
          <p:nvPr/>
        </p:nvSpPr>
        <p:spPr>
          <a:xfrm>
            <a:off x="777240" y="3840480"/>
            <a:ext cx="7589520" cy="411480"/>
          </a:xfrm>
          <a:prstGeom prst="rect">
            <a:avLst/>
          </a:prstGeom>
          <a:noFill/>
          <a:ln/>
        </p:spPr>
        <p:txBody>
          <a:bodyPr wrap="square" lIns="0" tIns="0" rIns="0" bIns="0" rtlCol="0" anchor="ctr"/>
          <a:lstStyle/>
          <a:p>
            <a:pPr indent="0" marL="0">
              <a:buNone/>
            </a:pPr>
            <a:r>
              <a:rPr lang="en-US" sz="1100" dirty="0">
                <a:solidFill>
                  <a:srgbClr val="AAAAAA"/>
                </a:solidFill>
                <a:latin typeface="Calibri" pitchFamily="34" charset="0"/>
                <a:ea typeface="Calibri" pitchFamily="34" charset="-122"/>
                <a:cs typeface="Calibri" pitchFamily="34" charset="-120"/>
              </a:rPr>
              <a:t>No updates at all when an order was delayed or stuck</a:t>
            </a:r>
            <a:endParaRPr lang="en-US" sz="1100" dirty="0"/>
          </a:p>
        </p:txBody>
      </p:sp>
      <p:sp>
        <p:nvSpPr>
          <p:cNvPr id="14" name="Shape 12"/>
          <p:cNvSpPr/>
          <p:nvPr/>
        </p:nvSpPr>
        <p:spPr>
          <a:xfrm>
            <a:off x="548640" y="4480560"/>
            <a:ext cx="8046720" cy="457200"/>
          </a:xfrm>
          <a:prstGeom prst="roundRect">
            <a:avLst>
              <a:gd name="adj" fmla="val 16000"/>
            </a:avLst>
          </a:prstGeom>
          <a:solidFill>
            <a:srgbClr val="2A0E08"/>
          </a:solidFill>
          <a:ln/>
        </p:spPr>
      </p:sp>
      <p:sp>
        <p:nvSpPr>
          <p:cNvPr id="15" name="Text 13"/>
          <p:cNvSpPr/>
          <p:nvPr/>
        </p:nvSpPr>
        <p:spPr>
          <a:xfrm>
            <a:off x="731520" y="4480560"/>
            <a:ext cx="7680960" cy="457200"/>
          </a:xfrm>
          <a:prstGeom prst="rect">
            <a:avLst/>
          </a:prstGeom>
          <a:noFill/>
          <a:ln/>
        </p:spPr>
        <p:txBody>
          <a:bodyPr wrap="square" lIns="0" tIns="0" rIns="0" bIns="0" rtlCol="0" anchor="ctr"/>
          <a:lstStyle/>
          <a:p>
            <a:pPr indent="0" marL="0">
              <a:buNone/>
            </a:pPr>
            <a:r>
              <a:rPr lang="en-US" sz="1200" b="1" dirty="0">
                <a:solidFill>
                  <a:srgbClr val="FF6B35"/>
                </a:solidFill>
                <a:latin typeface="Calibri" pitchFamily="34" charset="0"/>
                <a:ea typeface="Calibri" pitchFamily="34" charset="-122"/>
                <a:cs typeface="Calibri" pitchFamily="34" charset="-120"/>
              </a:rPr>
              <a:t>Picking WISMO. Not because it is the biggest number, but because this is where the problem starts. Fix this first and the rest becomes easier.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548640" y="320040"/>
            <a:ext cx="8229600" cy="5029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Task 1: Validating the Hypothesis</a:t>
            </a:r>
            <a:endParaRPr lang="en-US" sz="3000" dirty="0"/>
          </a:p>
        </p:txBody>
      </p:sp>
      <p:sp>
        <p:nvSpPr>
          <p:cNvPr id="3" name="Text 1"/>
          <p:cNvSpPr/>
          <p:nvPr/>
        </p:nvSpPr>
        <p:spPr>
          <a:xfrm>
            <a:off x="548640" y="914400"/>
            <a:ext cx="8229600" cy="274320"/>
          </a:xfrm>
          <a:prstGeom prst="rect">
            <a:avLst/>
          </a:prstGeom>
          <a:noFill/>
          <a:ln/>
        </p:spPr>
        <p:txBody>
          <a:bodyPr wrap="square" lIns="0" tIns="0" rIns="0" bIns="0" rtlCol="0" anchor="ctr"/>
          <a:lstStyle/>
          <a:p>
            <a:pPr indent="0" marL="0">
              <a:buNone/>
            </a:pPr>
            <a:r>
              <a:rPr lang="en-US" sz="1300" dirty="0">
                <a:solidFill>
                  <a:srgbClr val="777777"/>
                </a:solidFill>
                <a:latin typeface="Calibri" pitchFamily="34" charset="0"/>
                <a:ea typeface="Calibri" pitchFamily="34" charset="-122"/>
                <a:cs typeface="Calibri" pitchFamily="34" charset="-120"/>
              </a:rPr>
              <a:t>Before building, I would check three things</a:t>
            </a:r>
            <a:endParaRPr lang="en-US" sz="1300" dirty="0"/>
          </a:p>
        </p:txBody>
      </p:sp>
      <p:sp>
        <p:nvSpPr>
          <p:cNvPr id="4" name="Shape 2"/>
          <p:cNvSpPr/>
          <p:nvPr/>
        </p:nvSpPr>
        <p:spPr>
          <a:xfrm>
            <a:off x="640080" y="1554480"/>
            <a:ext cx="365760" cy="365760"/>
          </a:xfrm>
          <a:prstGeom prst="ellipse">
            <a:avLst/>
          </a:prstGeom>
          <a:solidFill>
            <a:srgbClr val="D63A1A"/>
          </a:solidFill>
          <a:ln/>
        </p:spPr>
      </p:sp>
      <p:sp>
        <p:nvSpPr>
          <p:cNvPr id="5" name="Text 3"/>
          <p:cNvSpPr/>
          <p:nvPr/>
        </p:nvSpPr>
        <p:spPr>
          <a:xfrm>
            <a:off x="640080" y="155448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188720" y="1417320"/>
            <a:ext cx="74066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Are users complaining before the delay even happens?</a:t>
            </a:r>
            <a:endParaRPr lang="en-US" sz="1400" dirty="0"/>
          </a:p>
        </p:txBody>
      </p:sp>
      <p:sp>
        <p:nvSpPr>
          <p:cNvPr id="7" name="Text 5"/>
          <p:cNvSpPr/>
          <p:nvPr/>
        </p:nvSpPr>
        <p:spPr>
          <a:xfrm>
            <a:off x="1188720" y="1755648"/>
            <a:ext cx="7406640" cy="594360"/>
          </a:xfrm>
          <a:prstGeom prst="rect">
            <a:avLst/>
          </a:prstGeom>
          <a:noFill/>
          <a:ln/>
        </p:spPr>
        <p:txBody>
          <a:bodyPr wrap="square" lIns="0" tIns="0" rIns="0" bIns="0" rtlCol="0" anchor="ctr"/>
          <a:lstStyle/>
          <a:p>
            <a:pPr indent="0" marL="0">
              <a:buNone/>
            </a:pPr>
            <a:r>
              <a:rPr lang="en-US" sz="1050" dirty="0">
                <a:solidFill>
                  <a:srgbClr val="777777"/>
                </a:solidFill>
                <a:latin typeface="Calibri" pitchFamily="34" charset="0"/>
                <a:ea typeface="Calibri" pitchFamily="34" charset="-122"/>
                <a:cs typeface="Calibri" pitchFamily="34" charset="-120"/>
              </a:rPr>
              <a:t>Check when WISMO tickets are raised compared to the expected delivery date. If a lot of them are coming in before the delivery window has even passed, it means users do not trust POP to begin with. The problem is not the delay, it is the lack of confidence.</a:t>
            </a:r>
            <a:endParaRPr lang="en-US" sz="1050" dirty="0"/>
          </a:p>
        </p:txBody>
      </p:sp>
      <p:sp>
        <p:nvSpPr>
          <p:cNvPr id="8" name="Shape 6"/>
          <p:cNvSpPr/>
          <p:nvPr/>
        </p:nvSpPr>
        <p:spPr>
          <a:xfrm>
            <a:off x="640080" y="2651760"/>
            <a:ext cx="365760" cy="365760"/>
          </a:xfrm>
          <a:prstGeom prst="ellipse">
            <a:avLst/>
          </a:prstGeom>
          <a:solidFill>
            <a:srgbClr val="D63A1A"/>
          </a:solidFill>
          <a:ln/>
        </p:spPr>
      </p:sp>
      <p:sp>
        <p:nvSpPr>
          <p:cNvPr id="9" name="Text 7"/>
          <p:cNvSpPr/>
          <p:nvPr/>
        </p:nvSpPr>
        <p:spPr>
          <a:xfrm>
            <a:off x="640080" y="265176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1188720" y="2514600"/>
            <a:ext cx="74066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Are users checking the tracking page multiple times before calling support?</a:t>
            </a:r>
            <a:endParaRPr lang="en-US" sz="1400" dirty="0"/>
          </a:p>
        </p:txBody>
      </p:sp>
      <p:sp>
        <p:nvSpPr>
          <p:cNvPr id="11" name="Text 9"/>
          <p:cNvSpPr/>
          <p:nvPr/>
        </p:nvSpPr>
        <p:spPr>
          <a:xfrm>
            <a:off x="1188720" y="2852928"/>
            <a:ext cx="7406640" cy="594360"/>
          </a:xfrm>
          <a:prstGeom prst="rect">
            <a:avLst/>
          </a:prstGeom>
          <a:noFill/>
          <a:ln/>
        </p:spPr>
        <p:txBody>
          <a:bodyPr wrap="square" lIns="0" tIns="0" rIns="0" bIns="0" rtlCol="0" anchor="ctr"/>
          <a:lstStyle/>
          <a:p>
            <a:pPr indent="0" marL="0">
              <a:buNone/>
            </a:pPr>
            <a:r>
              <a:rPr lang="en-US" sz="1050" dirty="0">
                <a:solidFill>
                  <a:srgbClr val="777777"/>
                </a:solidFill>
                <a:latin typeface="Calibri" pitchFamily="34" charset="0"/>
                <a:ea typeface="Calibri" pitchFamily="34" charset="-122"/>
                <a:cs typeface="Calibri" pitchFamily="34" charset="-120"/>
              </a:rPr>
              <a:t>If someone is opening the tracking page 3 or 4 times and still ending up calling support, it means the tracking page is not answering their question. It is giving them nothing useful.</a:t>
            </a:r>
            <a:endParaRPr lang="en-US" sz="1050" dirty="0"/>
          </a:p>
        </p:txBody>
      </p:sp>
      <p:sp>
        <p:nvSpPr>
          <p:cNvPr id="12" name="Shape 10"/>
          <p:cNvSpPr/>
          <p:nvPr/>
        </p:nvSpPr>
        <p:spPr>
          <a:xfrm>
            <a:off x="640080" y="3749040"/>
            <a:ext cx="365760" cy="365760"/>
          </a:xfrm>
          <a:prstGeom prst="ellipse">
            <a:avLst/>
          </a:prstGeom>
          <a:solidFill>
            <a:srgbClr val="D63A1A"/>
          </a:solidFill>
          <a:ln/>
        </p:spPr>
      </p:sp>
      <p:sp>
        <p:nvSpPr>
          <p:cNvPr id="13" name="Text 11"/>
          <p:cNvSpPr/>
          <p:nvPr/>
        </p:nvSpPr>
        <p:spPr>
          <a:xfrm>
            <a:off x="640080" y="374904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188720" y="3611880"/>
            <a:ext cx="74066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Do these users come back and order again?</a:t>
            </a:r>
            <a:endParaRPr lang="en-US" sz="1400" dirty="0"/>
          </a:p>
        </p:txBody>
      </p:sp>
      <p:sp>
        <p:nvSpPr>
          <p:cNvPr id="15" name="Text 13"/>
          <p:cNvSpPr/>
          <p:nvPr/>
        </p:nvSpPr>
        <p:spPr>
          <a:xfrm>
            <a:off x="1188720" y="3950208"/>
            <a:ext cx="7406640" cy="594360"/>
          </a:xfrm>
          <a:prstGeom prst="rect">
            <a:avLst/>
          </a:prstGeom>
          <a:noFill/>
          <a:ln/>
        </p:spPr>
        <p:txBody>
          <a:bodyPr wrap="square" lIns="0" tIns="0" rIns="0" bIns="0" rtlCol="0" anchor="ctr"/>
          <a:lstStyle/>
          <a:p>
            <a:pPr indent="0" marL="0">
              <a:buNone/>
            </a:pPr>
            <a:r>
              <a:rPr lang="en-US" sz="1050" dirty="0">
                <a:solidFill>
                  <a:srgbClr val="777777"/>
                </a:solidFill>
                <a:latin typeface="Calibri" pitchFamily="34" charset="0"/>
                <a:ea typeface="Calibri" pitchFamily="34" charset="-122"/>
                <a:cs typeface="Calibri" pitchFamily="34" charset="-120"/>
              </a:rPr>
              <a:t>Compare repeat orders between two groups: users who raised a WISMO ticket, and users who had a delayed order but never complained. If there is a big gap, the support experience itself is driving users away, not just the delay.</a:t>
            </a:r>
            <a:endParaRPr lang="en-US" sz="1050" dirty="0"/>
          </a:p>
        </p:txBody>
      </p:sp>
      <p:sp>
        <p:nvSpPr>
          <p:cNvPr id="16" name="Shape 14"/>
          <p:cNvSpPr/>
          <p:nvPr/>
        </p:nvSpPr>
        <p:spPr>
          <a:xfrm>
            <a:off x="548640" y="4434840"/>
            <a:ext cx="8046720" cy="502920"/>
          </a:xfrm>
          <a:prstGeom prst="roundRect">
            <a:avLst>
              <a:gd name="adj" fmla="val 14545"/>
            </a:avLst>
          </a:prstGeom>
          <a:solidFill>
            <a:srgbClr val="1A140A"/>
          </a:solidFill>
          <a:ln w="6350">
            <a:solidFill>
              <a:srgbClr val="3A2A10"/>
            </a:solidFill>
            <a:prstDash val="solid"/>
          </a:ln>
        </p:spPr>
      </p:sp>
      <p:sp>
        <p:nvSpPr>
          <p:cNvPr id="17" name="Text 15"/>
          <p:cNvSpPr/>
          <p:nvPr/>
        </p:nvSpPr>
        <p:spPr>
          <a:xfrm>
            <a:off x="731520" y="4434840"/>
            <a:ext cx="7680960" cy="502920"/>
          </a:xfrm>
          <a:prstGeom prst="rect">
            <a:avLst/>
          </a:prstGeom>
          <a:noFill/>
          <a:ln/>
        </p:spPr>
        <p:txBody>
          <a:bodyPr wrap="square" lIns="0" tIns="0" rIns="0" bIns="0" rtlCol="0" anchor="ctr"/>
          <a:lstStyle/>
          <a:p>
            <a:pPr indent="0" marL="0">
              <a:buNone/>
            </a:pPr>
            <a:r>
              <a:rPr lang="en-US" sz="1100" b="1" dirty="0">
                <a:solidFill>
                  <a:srgbClr val="FFA726"/>
                </a:solidFill>
                <a:latin typeface="Calibri" pitchFamily="34" charset="0"/>
                <a:ea typeface="Calibri" pitchFamily="34" charset="-122"/>
                <a:cs typeface="Calibri" pitchFamily="34" charset="-120"/>
              </a:rPr>
              <a:t>When would I change my pick: </a:t>
            </a:r>
            <a:pPr indent="0" marL="0">
              <a:buNone/>
            </a:pPr>
            <a:r>
              <a:rPr lang="en-US" sz="1100" dirty="0">
                <a:solidFill>
                  <a:srgbClr val="777777"/>
                </a:solidFill>
                <a:latin typeface="Calibri" pitchFamily="34" charset="0"/>
                <a:ea typeface="Calibri" pitchFamily="34" charset="-122"/>
                <a:cs typeface="Calibri" pitchFamily="34" charset="-120"/>
              </a:rPr>
              <a:t>If sending proactive updates does not reduce complaints, then communication is not the real problem. Shift focus to delivery partners.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548640" y="320040"/>
            <a:ext cx="8229600" cy="5029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Task 2: What Is Happening Today</a:t>
            </a:r>
            <a:endParaRPr lang="en-US" sz="3000" dirty="0"/>
          </a:p>
        </p:txBody>
      </p:sp>
      <p:sp>
        <p:nvSpPr>
          <p:cNvPr id="3" name="Text 1"/>
          <p:cNvSpPr/>
          <p:nvPr/>
        </p:nvSpPr>
        <p:spPr>
          <a:xfrm>
            <a:off x="548640" y="868680"/>
            <a:ext cx="8046720" cy="274320"/>
          </a:xfrm>
          <a:prstGeom prst="rect">
            <a:avLst/>
          </a:prstGeom>
          <a:noFill/>
          <a:ln/>
        </p:spPr>
        <p:txBody>
          <a:bodyPr wrap="square" lIns="0" tIns="0" rIns="0" bIns="0" rtlCol="0" anchor="ctr"/>
          <a:lstStyle/>
          <a:p>
            <a:pPr indent="0" marL="0">
              <a:buNone/>
            </a:pPr>
            <a:r>
              <a:rPr lang="en-US" sz="1300" dirty="0">
                <a:solidFill>
                  <a:srgbClr val="FF6B35"/>
                </a:solidFill>
                <a:latin typeface="Calibri" pitchFamily="34" charset="0"/>
                <a:ea typeface="Calibri" pitchFamily="34" charset="-122"/>
                <a:cs typeface="Calibri" pitchFamily="34" charset="-120"/>
              </a:rPr>
              <a:t>Scenario A — Delayed order, no communication</a:t>
            </a:r>
            <a:endParaRPr lang="en-US" sz="1300" dirty="0"/>
          </a:p>
        </p:txBody>
      </p:sp>
      <p:sp>
        <p:nvSpPr>
          <p:cNvPr id="4" name="Shape 2"/>
          <p:cNvSpPr/>
          <p:nvPr/>
        </p:nvSpPr>
        <p:spPr>
          <a:xfrm>
            <a:off x="640080" y="1417320"/>
            <a:ext cx="320040" cy="320040"/>
          </a:xfrm>
          <a:prstGeom prst="ellipse">
            <a:avLst/>
          </a:prstGeom>
          <a:solidFill>
            <a:srgbClr val="D63A1A"/>
          </a:solidFill>
          <a:ln/>
        </p:spPr>
      </p:sp>
      <p:sp>
        <p:nvSpPr>
          <p:cNvPr id="5" name="Text 3"/>
          <p:cNvSpPr/>
          <p:nvPr/>
        </p:nvSpPr>
        <p:spPr>
          <a:xfrm>
            <a:off x="640080" y="1417320"/>
            <a:ext cx="32004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Shape 4"/>
          <p:cNvSpPr/>
          <p:nvPr/>
        </p:nvSpPr>
        <p:spPr>
          <a:xfrm>
            <a:off x="800100" y="1737360"/>
            <a:ext cx="0" cy="292608"/>
          </a:xfrm>
          <a:prstGeom prst="line">
            <a:avLst/>
          </a:prstGeom>
          <a:noFill/>
          <a:ln w="12700">
            <a:solidFill>
              <a:srgbClr val="333333"/>
            </a:solidFill>
            <a:prstDash val="dash"/>
          </a:ln>
        </p:spPr>
      </p:sp>
      <p:sp>
        <p:nvSpPr>
          <p:cNvPr id="7" name="Text 5"/>
          <p:cNvSpPr/>
          <p:nvPr/>
        </p:nvSpPr>
        <p:spPr>
          <a:xfrm>
            <a:off x="1143000" y="1371600"/>
            <a:ext cx="3657600" cy="2286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Order gets delayed</a:t>
            </a:r>
            <a:endParaRPr lang="en-US" sz="1300" dirty="0"/>
          </a:p>
        </p:txBody>
      </p:sp>
      <p:sp>
        <p:nvSpPr>
          <p:cNvPr id="8" name="Text 6"/>
          <p:cNvSpPr/>
          <p:nvPr/>
        </p:nvSpPr>
        <p:spPr>
          <a:xfrm>
            <a:off x="1143000" y="1600200"/>
            <a:ext cx="3657600" cy="228600"/>
          </a:xfrm>
          <a:prstGeom prst="rect">
            <a:avLst/>
          </a:prstGeom>
          <a:noFill/>
          <a:ln/>
        </p:spPr>
        <p:txBody>
          <a:bodyPr wrap="square" lIns="0" tIns="0" rIns="0" bIns="0" rtlCol="0" anchor="ctr"/>
          <a:lstStyle/>
          <a:p>
            <a:pPr indent="0" marL="0">
              <a:buNone/>
            </a:pPr>
            <a:r>
              <a:rPr lang="en-US" sz="1050" dirty="0">
                <a:solidFill>
                  <a:srgbClr val="777777"/>
                </a:solidFill>
                <a:latin typeface="Calibri" pitchFamily="34" charset="0"/>
                <a:ea typeface="Calibri" pitchFamily="34" charset="-122"/>
                <a:cs typeface="Calibri" pitchFamily="34" charset="-120"/>
              </a:rPr>
              <a:t>POP does not say anything to the user</a:t>
            </a:r>
            <a:endParaRPr lang="en-US" sz="1050" dirty="0"/>
          </a:p>
        </p:txBody>
      </p:sp>
      <p:sp>
        <p:nvSpPr>
          <p:cNvPr id="9" name="Shape 7"/>
          <p:cNvSpPr/>
          <p:nvPr/>
        </p:nvSpPr>
        <p:spPr>
          <a:xfrm>
            <a:off x="640080" y="2075688"/>
            <a:ext cx="320040" cy="320040"/>
          </a:xfrm>
          <a:prstGeom prst="ellipse">
            <a:avLst/>
          </a:prstGeom>
          <a:solidFill>
            <a:srgbClr val="D63A1A"/>
          </a:solidFill>
          <a:ln/>
        </p:spPr>
      </p:sp>
      <p:sp>
        <p:nvSpPr>
          <p:cNvPr id="10" name="Text 8"/>
          <p:cNvSpPr/>
          <p:nvPr/>
        </p:nvSpPr>
        <p:spPr>
          <a:xfrm>
            <a:off x="640080" y="2075688"/>
            <a:ext cx="32004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Shape 9"/>
          <p:cNvSpPr/>
          <p:nvPr/>
        </p:nvSpPr>
        <p:spPr>
          <a:xfrm>
            <a:off x="800100" y="2395728"/>
            <a:ext cx="0" cy="292608"/>
          </a:xfrm>
          <a:prstGeom prst="line">
            <a:avLst/>
          </a:prstGeom>
          <a:noFill/>
          <a:ln w="12700">
            <a:solidFill>
              <a:srgbClr val="333333"/>
            </a:solidFill>
            <a:prstDash val="dash"/>
          </a:ln>
        </p:spPr>
      </p:sp>
      <p:sp>
        <p:nvSpPr>
          <p:cNvPr id="12" name="Text 10"/>
          <p:cNvSpPr/>
          <p:nvPr/>
        </p:nvSpPr>
        <p:spPr>
          <a:xfrm>
            <a:off x="1143000" y="2029968"/>
            <a:ext cx="3657600" cy="2286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User opens the app</a:t>
            </a:r>
            <a:endParaRPr lang="en-US" sz="1300" dirty="0"/>
          </a:p>
        </p:txBody>
      </p:sp>
      <p:sp>
        <p:nvSpPr>
          <p:cNvPr id="13" name="Text 11"/>
          <p:cNvSpPr/>
          <p:nvPr/>
        </p:nvSpPr>
        <p:spPr>
          <a:xfrm>
            <a:off x="1143000" y="2258568"/>
            <a:ext cx="3657600" cy="228600"/>
          </a:xfrm>
          <a:prstGeom prst="rect">
            <a:avLst/>
          </a:prstGeom>
          <a:noFill/>
          <a:ln/>
        </p:spPr>
        <p:txBody>
          <a:bodyPr wrap="square" lIns="0" tIns="0" rIns="0" bIns="0" rtlCol="0" anchor="ctr"/>
          <a:lstStyle/>
          <a:p>
            <a:pPr indent="0" marL="0">
              <a:buNone/>
            </a:pPr>
            <a:r>
              <a:rPr lang="en-US" sz="1050" dirty="0">
                <a:solidFill>
                  <a:srgbClr val="777777"/>
                </a:solidFill>
                <a:latin typeface="Calibri" pitchFamily="34" charset="0"/>
                <a:ea typeface="Calibri" pitchFamily="34" charset="-122"/>
                <a:cs typeface="Calibri" pitchFamily="34" charset="-120"/>
              </a:rPr>
              <a:t>Sees the same Ordered and Shipped steps with no movement</a:t>
            </a:r>
            <a:endParaRPr lang="en-US" sz="1050" dirty="0"/>
          </a:p>
        </p:txBody>
      </p:sp>
      <p:sp>
        <p:nvSpPr>
          <p:cNvPr id="14" name="Shape 12"/>
          <p:cNvSpPr/>
          <p:nvPr/>
        </p:nvSpPr>
        <p:spPr>
          <a:xfrm>
            <a:off x="640080" y="2734056"/>
            <a:ext cx="320040" cy="320040"/>
          </a:xfrm>
          <a:prstGeom prst="ellipse">
            <a:avLst/>
          </a:prstGeom>
          <a:solidFill>
            <a:srgbClr val="D63A1A"/>
          </a:solidFill>
          <a:ln/>
        </p:spPr>
      </p:sp>
      <p:sp>
        <p:nvSpPr>
          <p:cNvPr id="15" name="Text 13"/>
          <p:cNvSpPr/>
          <p:nvPr/>
        </p:nvSpPr>
        <p:spPr>
          <a:xfrm>
            <a:off x="640080" y="2734056"/>
            <a:ext cx="32004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Shape 14"/>
          <p:cNvSpPr/>
          <p:nvPr/>
        </p:nvSpPr>
        <p:spPr>
          <a:xfrm>
            <a:off x="800100" y="3054096"/>
            <a:ext cx="0" cy="292608"/>
          </a:xfrm>
          <a:prstGeom prst="line">
            <a:avLst/>
          </a:prstGeom>
          <a:noFill/>
          <a:ln w="12700">
            <a:solidFill>
              <a:srgbClr val="333333"/>
            </a:solidFill>
            <a:prstDash val="dash"/>
          </a:ln>
        </p:spPr>
      </p:sp>
      <p:sp>
        <p:nvSpPr>
          <p:cNvPr id="17" name="Text 15"/>
          <p:cNvSpPr/>
          <p:nvPr/>
        </p:nvSpPr>
        <p:spPr>
          <a:xfrm>
            <a:off x="1143000" y="2688336"/>
            <a:ext cx="3657600" cy="2286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Taps Track Order</a:t>
            </a:r>
            <a:endParaRPr lang="en-US" sz="1300" dirty="0"/>
          </a:p>
        </p:txBody>
      </p:sp>
      <p:sp>
        <p:nvSpPr>
          <p:cNvPr id="18" name="Text 16"/>
          <p:cNvSpPr/>
          <p:nvPr/>
        </p:nvSpPr>
        <p:spPr>
          <a:xfrm>
            <a:off x="1143000" y="2916936"/>
            <a:ext cx="3657600" cy="228600"/>
          </a:xfrm>
          <a:prstGeom prst="rect">
            <a:avLst/>
          </a:prstGeom>
          <a:noFill/>
          <a:ln/>
        </p:spPr>
        <p:txBody>
          <a:bodyPr wrap="square" lIns="0" tIns="0" rIns="0" bIns="0" rtlCol="0" anchor="ctr"/>
          <a:lstStyle/>
          <a:p>
            <a:pPr indent="0" marL="0">
              <a:buNone/>
            </a:pPr>
            <a:r>
              <a:rPr lang="en-US" sz="1050" dirty="0">
                <a:solidFill>
                  <a:srgbClr val="777777"/>
                </a:solidFill>
                <a:latin typeface="Calibri" pitchFamily="34" charset="0"/>
                <a:ea typeface="Calibri" pitchFamily="34" charset="-122"/>
                <a:cs typeface="Calibri" pitchFamily="34" charset="-120"/>
              </a:rPr>
              <a:t>Gets a red banner saying "Tracker not available at this moment"</a:t>
            </a:r>
            <a:endParaRPr lang="en-US" sz="1050" dirty="0"/>
          </a:p>
        </p:txBody>
      </p:sp>
      <p:sp>
        <p:nvSpPr>
          <p:cNvPr id="19" name="Shape 17"/>
          <p:cNvSpPr/>
          <p:nvPr/>
        </p:nvSpPr>
        <p:spPr>
          <a:xfrm>
            <a:off x="640080" y="3392424"/>
            <a:ext cx="320040" cy="320040"/>
          </a:xfrm>
          <a:prstGeom prst="ellipse">
            <a:avLst/>
          </a:prstGeom>
          <a:solidFill>
            <a:srgbClr val="D63A1A"/>
          </a:solidFill>
          <a:ln/>
        </p:spPr>
      </p:sp>
      <p:sp>
        <p:nvSpPr>
          <p:cNvPr id="20" name="Text 18"/>
          <p:cNvSpPr/>
          <p:nvPr/>
        </p:nvSpPr>
        <p:spPr>
          <a:xfrm>
            <a:off x="640080" y="3392424"/>
            <a:ext cx="32004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Shape 19"/>
          <p:cNvSpPr/>
          <p:nvPr/>
        </p:nvSpPr>
        <p:spPr>
          <a:xfrm>
            <a:off x="800100" y="3712464"/>
            <a:ext cx="0" cy="292608"/>
          </a:xfrm>
          <a:prstGeom prst="line">
            <a:avLst/>
          </a:prstGeom>
          <a:noFill/>
          <a:ln w="12700">
            <a:solidFill>
              <a:srgbClr val="333333"/>
            </a:solidFill>
            <a:prstDash val="dash"/>
          </a:ln>
        </p:spPr>
      </p:sp>
      <p:sp>
        <p:nvSpPr>
          <p:cNvPr id="22" name="Text 20"/>
          <p:cNvSpPr/>
          <p:nvPr/>
        </p:nvSpPr>
        <p:spPr>
          <a:xfrm>
            <a:off x="1143000" y="3346704"/>
            <a:ext cx="3657600" cy="2286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Contacts support</a:t>
            </a:r>
            <a:endParaRPr lang="en-US" sz="1300" dirty="0"/>
          </a:p>
        </p:txBody>
      </p:sp>
      <p:sp>
        <p:nvSpPr>
          <p:cNvPr id="23" name="Text 21"/>
          <p:cNvSpPr/>
          <p:nvPr/>
        </p:nvSpPr>
        <p:spPr>
          <a:xfrm>
            <a:off x="1143000" y="3575304"/>
            <a:ext cx="3657600" cy="228600"/>
          </a:xfrm>
          <a:prstGeom prst="rect">
            <a:avLst/>
          </a:prstGeom>
          <a:noFill/>
          <a:ln/>
        </p:spPr>
        <p:txBody>
          <a:bodyPr wrap="square" lIns="0" tIns="0" rIns="0" bIns="0" rtlCol="0" anchor="ctr"/>
          <a:lstStyle/>
          <a:p>
            <a:pPr indent="0" marL="0">
              <a:buNone/>
            </a:pPr>
            <a:r>
              <a:rPr lang="en-US" sz="1050" dirty="0">
                <a:solidFill>
                  <a:srgbClr val="777777"/>
                </a:solidFill>
                <a:latin typeface="Calibri" pitchFamily="34" charset="0"/>
                <a:ea typeface="Calibri" pitchFamily="34" charset="-122"/>
                <a:cs typeface="Calibri" pitchFamily="34" charset="-120"/>
              </a:rPr>
              <a:t>Support sends a copy-paste reply</a:t>
            </a:r>
            <a:endParaRPr lang="en-US" sz="1050" dirty="0"/>
          </a:p>
        </p:txBody>
      </p:sp>
      <p:sp>
        <p:nvSpPr>
          <p:cNvPr id="24" name="Shape 22"/>
          <p:cNvSpPr/>
          <p:nvPr/>
        </p:nvSpPr>
        <p:spPr>
          <a:xfrm>
            <a:off x="640080" y="4050792"/>
            <a:ext cx="320040" cy="320040"/>
          </a:xfrm>
          <a:prstGeom prst="ellipse">
            <a:avLst/>
          </a:prstGeom>
          <a:solidFill>
            <a:srgbClr val="CC0000"/>
          </a:solidFill>
          <a:ln/>
        </p:spPr>
      </p:sp>
      <p:sp>
        <p:nvSpPr>
          <p:cNvPr id="25" name="Text 23"/>
          <p:cNvSpPr/>
          <p:nvPr/>
        </p:nvSpPr>
        <p:spPr>
          <a:xfrm>
            <a:off x="640080" y="4050792"/>
            <a:ext cx="32004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6" name="Text 24"/>
          <p:cNvSpPr/>
          <p:nvPr/>
        </p:nvSpPr>
        <p:spPr>
          <a:xfrm>
            <a:off x="1143000" y="4005072"/>
            <a:ext cx="3657600" cy="2286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User is now frustrated</a:t>
            </a:r>
            <a:endParaRPr lang="en-US" sz="1300" dirty="0"/>
          </a:p>
        </p:txBody>
      </p:sp>
      <p:sp>
        <p:nvSpPr>
          <p:cNvPr id="27" name="Text 25"/>
          <p:cNvSpPr/>
          <p:nvPr/>
        </p:nvSpPr>
        <p:spPr>
          <a:xfrm>
            <a:off x="1143000" y="4233672"/>
            <a:ext cx="3657600" cy="228600"/>
          </a:xfrm>
          <a:prstGeom prst="rect">
            <a:avLst/>
          </a:prstGeom>
          <a:noFill/>
          <a:ln/>
        </p:spPr>
        <p:txBody>
          <a:bodyPr wrap="square" lIns="0" tIns="0" rIns="0" bIns="0" rtlCol="0" anchor="ctr"/>
          <a:lstStyle/>
          <a:p>
            <a:pPr indent="0" marL="0">
              <a:buNone/>
            </a:pPr>
            <a:r>
              <a:rPr lang="en-US" sz="1050" dirty="0">
                <a:solidFill>
                  <a:srgbClr val="777777"/>
                </a:solidFill>
                <a:latin typeface="Calibri" pitchFamily="34" charset="0"/>
                <a:ea typeface="Calibri" pitchFamily="34" charset="-122"/>
                <a:cs typeface="Calibri" pitchFamily="34" charset="-120"/>
              </a:rPr>
              <a:t>Trust is broken. They may never come back.</a:t>
            </a:r>
            <a:endParaRPr lang="en-US" sz="1050" dirty="0"/>
          </a:p>
        </p:txBody>
      </p:sp>
      <p:sp>
        <p:nvSpPr>
          <p:cNvPr id="28" name="Shape 26"/>
          <p:cNvSpPr/>
          <p:nvPr/>
        </p:nvSpPr>
        <p:spPr>
          <a:xfrm>
            <a:off x="5029200" y="1371600"/>
            <a:ext cx="3657600" cy="3200400"/>
          </a:xfrm>
          <a:prstGeom prst="roundRect">
            <a:avLst>
              <a:gd name="adj" fmla="val 2857"/>
            </a:avLst>
          </a:prstGeom>
          <a:solidFill>
            <a:srgbClr val="0D3A1A"/>
          </a:solidFill>
          <a:ln w="12700">
            <a:solidFill>
              <a:srgbClr val="00C853"/>
            </a:solidFill>
            <a:prstDash val="solid"/>
          </a:ln>
          <a:effectLst>
            <a:outerShdw sx="100000" sy="100000" kx="0" ky="0" algn="bl" rotWithShape="0" blurRad="101600" dist="25400" dir="2700000">
              <a:srgbClr val="000000">
                <a:alpha val="35000"/>
              </a:srgbClr>
            </a:outerShdw>
          </a:effectLst>
        </p:spPr>
      </p:sp>
      <p:sp>
        <p:nvSpPr>
          <p:cNvPr id="29" name="Text 27"/>
          <p:cNvSpPr/>
          <p:nvPr/>
        </p:nvSpPr>
        <p:spPr>
          <a:xfrm>
            <a:off x="5212080" y="1508760"/>
            <a:ext cx="3291840" cy="320040"/>
          </a:xfrm>
          <a:prstGeom prst="rect">
            <a:avLst/>
          </a:prstGeom>
          <a:noFill/>
          <a:ln/>
        </p:spPr>
        <p:txBody>
          <a:bodyPr wrap="square" lIns="0" tIns="0" rIns="0" bIns="0" rtlCol="0" anchor="ctr"/>
          <a:lstStyle/>
          <a:p>
            <a:pPr indent="0" marL="0">
              <a:buNone/>
            </a:pPr>
            <a:r>
              <a:rPr lang="en-US" sz="1600" b="1" dirty="0">
                <a:solidFill>
                  <a:srgbClr val="00C853"/>
                </a:solidFill>
                <a:latin typeface="Calibri" pitchFamily="34" charset="0"/>
                <a:ea typeface="Calibri" pitchFamily="34" charset="-122"/>
                <a:cs typeface="Calibri" pitchFamily="34" charset="-120"/>
              </a:rPr>
              <a:t>What should happen</a:t>
            </a:r>
            <a:endParaRPr lang="en-US" sz="1600" dirty="0"/>
          </a:p>
        </p:txBody>
      </p:sp>
      <p:sp>
        <p:nvSpPr>
          <p:cNvPr id="30" name="Text 28"/>
          <p:cNvSpPr/>
          <p:nvPr/>
        </p:nvSpPr>
        <p:spPr>
          <a:xfrm>
            <a:off x="5212080" y="1920240"/>
            <a:ext cx="3291840" cy="7315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Order gets delayed. POP detects it on its own and messages the user first. User already knows what is going on before they even open the app.</a:t>
            </a:r>
            <a:endParaRPr lang="en-US" sz="1200" dirty="0"/>
          </a:p>
        </p:txBody>
      </p:sp>
      <p:sp>
        <p:nvSpPr>
          <p:cNvPr id="31" name="Text 29"/>
          <p:cNvSpPr/>
          <p:nvPr/>
        </p:nvSpPr>
        <p:spPr>
          <a:xfrm>
            <a:off x="5212080" y="2743200"/>
            <a:ext cx="3291840" cy="228600"/>
          </a:xfrm>
          <a:prstGeom prst="rect">
            <a:avLst/>
          </a:prstGeom>
          <a:noFill/>
          <a:ln/>
        </p:spPr>
        <p:txBody>
          <a:bodyPr wrap="square" lIns="0" tIns="0" rIns="0" bIns="0" rtlCol="0" anchor="ctr"/>
          <a:lstStyle/>
          <a:p>
            <a:pPr indent="0" marL="0">
              <a:buNone/>
            </a:pPr>
            <a:r>
              <a:rPr lang="en-US" sz="1100" b="1" dirty="0">
                <a:solidFill>
                  <a:srgbClr val="AAAAAA"/>
                </a:solidFill>
                <a:latin typeface="Calibri" pitchFamily="34" charset="0"/>
                <a:ea typeface="Calibri" pitchFamily="34" charset="-122"/>
                <a:cs typeface="Calibri" pitchFamily="34" charset="-120"/>
              </a:rPr>
              <a:t>Push notification:</a:t>
            </a:r>
            <a:endParaRPr lang="en-US" sz="1100" dirty="0"/>
          </a:p>
        </p:txBody>
      </p:sp>
      <p:sp>
        <p:nvSpPr>
          <p:cNvPr id="32" name="Shape 30"/>
          <p:cNvSpPr/>
          <p:nvPr/>
        </p:nvSpPr>
        <p:spPr>
          <a:xfrm>
            <a:off x="5212080" y="3017520"/>
            <a:ext cx="3291840" cy="640080"/>
          </a:xfrm>
          <a:prstGeom prst="roundRect">
            <a:avLst>
              <a:gd name="adj" fmla="val 8571"/>
            </a:avLst>
          </a:prstGeom>
          <a:solidFill>
            <a:srgbClr val="161616"/>
          </a:solidFill>
          <a:ln/>
        </p:spPr>
      </p:sp>
      <p:sp>
        <p:nvSpPr>
          <p:cNvPr id="33" name="Text 31"/>
          <p:cNvSpPr/>
          <p:nvPr/>
        </p:nvSpPr>
        <p:spPr>
          <a:xfrm>
            <a:off x="5349240" y="3063240"/>
            <a:ext cx="3017520" cy="548640"/>
          </a:xfrm>
          <a:prstGeom prst="rect">
            <a:avLst/>
          </a:prstGeom>
          <a:noFill/>
          <a:ln/>
        </p:spPr>
        <p:txBody>
          <a:bodyPr wrap="square" lIns="0" tIns="0" rIns="0" bIns="0" rtlCol="0" anchor="ctr"/>
          <a:lstStyle/>
          <a:p>
            <a:pPr indent="0" marL="0">
              <a:buNone/>
            </a:pPr>
            <a:r>
              <a:rPr lang="en-US" sz="1050" i="1" dirty="0">
                <a:solidFill>
                  <a:srgbClr val="FFFFFF"/>
                </a:solidFill>
                <a:latin typeface="Calibri" pitchFamily="34" charset="0"/>
                <a:ea typeface="Calibri" pitchFamily="34" charset="-122"/>
                <a:cs typeface="Calibri" pitchFamily="34" charset="-120"/>
              </a:rPr>
              <a:t>Hi Adarsh, your order is running a bit late. New expected delivery: tomorrow by 8 PM. We will keep you updated.</a:t>
            </a:r>
            <a:endParaRPr lang="en-US" sz="1050" dirty="0"/>
          </a:p>
        </p:txBody>
      </p:sp>
      <p:sp>
        <p:nvSpPr>
          <p:cNvPr id="34" name="Text 32"/>
          <p:cNvSpPr/>
          <p:nvPr/>
        </p:nvSpPr>
        <p:spPr>
          <a:xfrm>
            <a:off x="5212080" y="3794760"/>
            <a:ext cx="3291840" cy="365760"/>
          </a:xfrm>
          <a:prstGeom prst="rect">
            <a:avLst/>
          </a:prstGeom>
          <a:noFill/>
          <a:ln/>
        </p:spPr>
        <p:txBody>
          <a:bodyPr wrap="square" lIns="0" tIns="0" rIns="0" bIns="0" rtlCol="0" anchor="ctr"/>
          <a:lstStyle/>
          <a:p>
            <a:pPr indent="0" marL="0">
              <a:buNone/>
            </a:pPr>
            <a:r>
              <a:rPr lang="en-US" sz="1000" dirty="0">
                <a:solidFill>
                  <a:srgbClr val="00C853"/>
                </a:solidFill>
                <a:latin typeface="Calibri" pitchFamily="34" charset="0"/>
                <a:ea typeface="Calibri" pitchFamily="34" charset="-122"/>
                <a:cs typeface="Calibri" pitchFamily="34" charset="-120"/>
              </a:rPr>
              <a:t>The user gets context and a new ETA before they have to ask.</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548640" y="228600"/>
            <a:ext cx="8229600" cy="4572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Task 2: Redesigned Tracking Page</a:t>
            </a:r>
            <a:endParaRPr lang="en-US" sz="3000" dirty="0"/>
          </a:p>
        </p:txBody>
      </p:sp>
      <p:sp>
        <p:nvSpPr>
          <p:cNvPr id="3" name="Text 1"/>
          <p:cNvSpPr/>
          <p:nvPr/>
        </p:nvSpPr>
        <p:spPr>
          <a:xfrm>
            <a:off x="548640" y="685800"/>
            <a:ext cx="8229600" cy="274320"/>
          </a:xfrm>
          <a:prstGeom prst="rect">
            <a:avLst/>
          </a:prstGeom>
          <a:noFill/>
          <a:ln/>
        </p:spPr>
        <p:txBody>
          <a:bodyPr wrap="square" lIns="0" tIns="0" rIns="0" bIns="0" rtlCol="0" anchor="ctr"/>
          <a:lstStyle/>
          <a:p>
            <a:pPr indent="0" marL="0">
              <a:buNone/>
            </a:pPr>
            <a:r>
              <a:rPr lang="en-US" sz="1200" dirty="0">
                <a:solidFill>
                  <a:srgbClr val="777777"/>
                </a:solidFill>
                <a:latin typeface="Calibri" pitchFamily="34" charset="0"/>
                <a:ea typeface="Calibri" pitchFamily="34" charset="-122"/>
                <a:cs typeface="Calibri" pitchFamily="34" charset="-120"/>
              </a:rPr>
              <a:t>Current red error banner replaced with proactive delay state, context, and a "next update by" commitment.</a:t>
            </a:r>
            <a:endParaRPr lang="en-US" sz="1200" dirty="0"/>
          </a:p>
        </p:txBody>
      </p:sp>
      <p:pic>
        <p:nvPicPr>
          <p:cNvPr id="4" name="Image 0" descr="/home/claude/screen1.png">    </p:cNvPr>
          <p:cNvPicPr>
            <a:picLocks noChangeAspect="1"/>
          </p:cNvPicPr>
          <p:nvPr/>
        </p:nvPicPr>
        <p:blipFill>
          <a:blip r:embed="rId1"/>
          <a:stretch>
            <a:fillRect/>
          </a:stretch>
        </p:blipFill>
        <p:spPr>
          <a:xfrm>
            <a:off x="2538805" y="1051560"/>
            <a:ext cx="4066391" cy="38404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548640" y="320040"/>
            <a:ext cx="8229600" cy="5029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Task 2: When the Notification Fires</a:t>
            </a:r>
            <a:endParaRPr lang="en-US" sz="3000" dirty="0"/>
          </a:p>
        </p:txBody>
      </p:sp>
      <p:sp>
        <p:nvSpPr>
          <p:cNvPr id="3" name="Text 1"/>
          <p:cNvSpPr/>
          <p:nvPr/>
        </p:nvSpPr>
        <p:spPr>
          <a:xfrm>
            <a:off x="548640" y="960120"/>
            <a:ext cx="8046720" cy="274320"/>
          </a:xfrm>
          <a:prstGeom prst="rect">
            <a:avLst/>
          </a:prstGeom>
          <a:noFill/>
          <a:ln/>
        </p:spPr>
        <p:txBody>
          <a:bodyPr wrap="square" lIns="0" tIns="0" rIns="0" bIns="0" rtlCol="0" anchor="ctr"/>
          <a:lstStyle/>
          <a:p>
            <a:pPr indent="0" marL="0">
              <a:buNone/>
            </a:pPr>
            <a:r>
              <a:rPr lang="en-US" sz="1300" dirty="0">
                <a:solidFill>
                  <a:srgbClr val="AAAAAA"/>
                </a:solidFill>
                <a:latin typeface="Calibri" pitchFamily="34" charset="0"/>
                <a:ea typeface="Calibri" pitchFamily="34" charset="-122"/>
                <a:cs typeface="Calibri" pitchFamily="34" charset="-120"/>
              </a:rPr>
              <a:t>The message goes out only when all three of these are true at the same time:</a:t>
            </a:r>
            <a:endParaRPr lang="en-US" sz="1300" dirty="0"/>
          </a:p>
        </p:txBody>
      </p:sp>
      <p:sp>
        <p:nvSpPr>
          <p:cNvPr id="4" name="Shape 2"/>
          <p:cNvSpPr/>
          <p:nvPr/>
        </p:nvSpPr>
        <p:spPr>
          <a:xfrm>
            <a:off x="548640" y="1417320"/>
            <a:ext cx="8046720" cy="594360"/>
          </a:xfrm>
          <a:prstGeom prst="roundRect">
            <a:avLst>
              <a:gd name="adj" fmla="val 9231"/>
            </a:avLst>
          </a:prstGeom>
          <a:solidFill>
            <a:srgbClr val="161616"/>
          </a:solidFill>
          <a:ln w="6350">
            <a:solidFill>
              <a:srgbClr val="262626"/>
            </a:solidFill>
            <a:prstDash val="solid"/>
          </a:ln>
          <a:effectLst>
            <a:outerShdw sx="100000" sy="100000" kx="0" ky="0" algn="bl" rotWithShape="0" blurRad="101600" dist="25400" dir="2700000">
              <a:srgbClr val="000000">
                <a:alpha val="35000"/>
              </a:srgbClr>
            </a:outerShdw>
          </a:effectLst>
        </p:spPr>
      </p:sp>
      <p:sp>
        <p:nvSpPr>
          <p:cNvPr id="5" name="Shape 3"/>
          <p:cNvSpPr/>
          <p:nvPr/>
        </p:nvSpPr>
        <p:spPr>
          <a:xfrm>
            <a:off x="731520" y="1554480"/>
            <a:ext cx="320040" cy="320040"/>
          </a:xfrm>
          <a:prstGeom prst="ellipse">
            <a:avLst/>
          </a:prstGeom>
          <a:solidFill>
            <a:srgbClr val="FF6B35"/>
          </a:solidFill>
          <a:ln/>
        </p:spPr>
      </p:sp>
      <p:sp>
        <p:nvSpPr>
          <p:cNvPr id="6" name="Text 4"/>
          <p:cNvSpPr/>
          <p:nvPr/>
        </p:nvSpPr>
        <p:spPr>
          <a:xfrm>
            <a:off x="731520" y="1554480"/>
            <a:ext cx="320040" cy="320040"/>
          </a:xfrm>
          <a:prstGeom prst="rect">
            <a:avLst/>
          </a:prstGeom>
          <a:noFill/>
          <a:ln/>
        </p:spPr>
        <p:txBody>
          <a:bodyPr wrap="square" lIns="0" tIns="0" rIns="0" bIns="0" rtlCol="0" anchor="ctr"/>
          <a:lstStyle/>
          <a:p>
            <a:pPr algn="ctr" indent="0" marL="0">
              <a:buNone/>
            </a:pPr>
            <a:r>
              <a:rPr lang="en-US" sz="1300" b="1" dirty="0">
                <a:solidFill>
                  <a:srgbClr val="0A0A0A"/>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234440" y="1417320"/>
            <a:ext cx="7132320" cy="5943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The order has not been delivered even after 4 hours past the promised date</a:t>
            </a:r>
            <a:endParaRPr lang="en-US" sz="1300" dirty="0"/>
          </a:p>
        </p:txBody>
      </p:sp>
      <p:sp>
        <p:nvSpPr>
          <p:cNvPr id="8" name="Shape 6"/>
          <p:cNvSpPr/>
          <p:nvPr/>
        </p:nvSpPr>
        <p:spPr>
          <a:xfrm>
            <a:off x="548640" y="2194560"/>
            <a:ext cx="8046720" cy="594360"/>
          </a:xfrm>
          <a:prstGeom prst="roundRect">
            <a:avLst>
              <a:gd name="adj" fmla="val 9231"/>
            </a:avLst>
          </a:prstGeom>
          <a:solidFill>
            <a:srgbClr val="161616"/>
          </a:solidFill>
          <a:ln w="6350">
            <a:solidFill>
              <a:srgbClr val="262626"/>
            </a:solidFill>
            <a:prstDash val="solid"/>
          </a:ln>
          <a:effectLst>
            <a:outerShdw sx="100000" sy="100000" kx="0" ky="0" algn="bl" rotWithShape="0" blurRad="101600" dist="25400" dir="2700000">
              <a:srgbClr val="000000">
                <a:alpha val="35000"/>
              </a:srgbClr>
            </a:outerShdw>
          </a:effectLst>
        </p:spPr>
      </p:sp>
      <p:sp>
        <p:nvSpPr>
          <p:cNvPr id="9" name="Shape 7"/>
          <p:cNvSpPr/>
          <p:nvPr/>
        </p:nvSpPr>
        <p:spPr>
          <a:xfrm>
            <a:off x="731520" y="2331720"/>
            <a:ext cx="320040" cy="320040"/>
          </a:xfrm>
          <a:prstGeom prst="ellipse">
            <a:avLst/>
          </a:prstGeom>
          <a:solidFill>
            <a:srgbClr val="FF6B35"/>
          </a:solidFill>
          <a:ln/>
        </p:spPr>
      </p:sp>
      <p:sp>
        <p:nvSpPr>
          <p:cNvPr id="10" name="Text 8"/>
          <p:cNvSpPr/>
          <p:nvPr/>
        </p:nvSpPr>
        <p:spPr>
          <a:xfrm>
            <a:off x="731520" y="2331720"/>
            <a:ext cx="320040" cy="320040"/>
          </a:xfrm>
          <a:prstGeom prst="rect">
            <a:avLst/>
          </a:prstGeom>
          <a:noFill/>
          <a:ln/>
        </p:spPr>
        <p:txBody>
          <a:bodyPr wrap="square" lIns="0" tIns="0" rIns="0" bIns="0" rtlCol="0" anchor="ctr"/>
          <a:lstStyle/>
          <a:p>
            <a:pPr algn="ctr" indent="0" marL="0">
              <a:buNone/>
            </a:pPr>
            <a:r>
              <a:rPr lang="en-US" sz="1300" b="1" dirty="0">
                <a:solidFill>
                  <a:srgbClr val="0A0A0A"/>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234440" y="2194560"/>
            <a:ext cx="7132320" cy="5943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The courier has not scanned or moved the package in the last 6 hours</a:t>
            </a:r>
            <a:endParaRPr lang="en-US" sz="1300" dirty="0"/>
          </a:p>
        </p:txBody>
      </p:sp>
      <p:sp>
        <p:nvSpPr>
          <p:cNvPr id="12" name="Shape 10"/>
          <p:cNvSpPr/>
          <p:nvPr/>
        </p:nvSpPr>
        <p:spPr>
          <a:xfrm>
            <a:off x="548640" y="2971800"/>
            <a:ext cx="8046720" cy="594360"/>
          </a:xfrm>
          <a:prstGeom prst="roundRect">
            <a:avLst>
              <a:gd name="adj" fmla="val 9231"/>
            </a:avLst>
          </a:prstGeom>
          <a:solidFill>
            <a:srgbClr val="161616"/>
          </a:solidFill>
          <a:ln w="6350">
            <a:solidFill>
              <a:srgbClr val="262626"/>
            </a:solidFill>
            <a:prstDash val="solid"/>
          </a:ln>
          <a:effectLst>
            <a:outerShdw sx="100000" sy="100000" kx="0" ky="0" algn="bl" rotWithShape="0" blurRad="101600" dist="25400" dir="2700000">
              <a:srgbClr val="000000">
                <a:alpha val="35000"/>
              </a:srgbClr>
            </a:outerShdw>
          </a:effectLst>
        </p:spPr>
      </p:sp>
      <p:sp>
        <p:nvSpPr>
          <p:cNvPr id="13" name="Shape 11"/>
          <p:cNvSpPr/>
          <p:nvPr/>
        </p:nvSpPr>
        <p:spPr>
          <a:xfrm>
            <a:off x="731520" y="3108960"/>
            <a:ext cx="320040" cy="320040"/>
          </a:xfrm>
          <a:prstGeom prst="ellipse">
            <a:avLst/>
          </a:prstGeom>
          <a:solidFill>
            <a:srgbClr val="FF6B35"/>
          </a:solidFill>
          <a:ln/>
        </p:spPr>
      </p:sp>
      <p:sp>
        <p:nvSpPr>
          <p:cNvPr id="14" name="Text 12"/>
          <p:cNvSpPr/>
          <p:nvPr/>
        </p:nvSpPr>
        <p:spPr>
          <a:xfrm>
            <a:off x="731520" y="3108960"/>
            <a:ext cx="320040" cy="320040"/>
          </a:xfrm>
          <a:prstGeom prst="rect">
            <a:avLst/>
          </a:prstGeom>
          <a:noFill/>
          <a:ln/>
        </p:spPr>
        <p:txBody>
          <a:bodyPr wrap="square" lIns="0" tIns="0" rIns="0" bIns="0" rtlCol="0" anchor="ctr"/>
          <a:lstStyle/>
          <a:p>
            <a:pPr algn="ctr" indent="0" marL="0">
              <a:buNone/>
            </a:pPr>
            <a:r>
              <a:rPr lang="en-US" sz="1300" b="1" dirty="0">
                <a:solidFill>
                  <a:srgbClr val="0A0A0A"/>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234440" y="2971800"/>
            <a:ext cx="7132320" cy="5943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POP has not already sent a delay message for this order before</a:t>
            </a:r>
            <a:endParaRPr lang="en-US" sz="1300" dirty="0"/>
          </a:p>
        </p:txBody>
      </p:sp>
      <p:sp>
        <p:nvSpPr>
          <p:cNvPr id="16" name="Shape 14"/>
          <p:cNvSpPr/>
          <p:nvPr/>
        </p:nvSpPr>
        <p:spPr>
          <a:xfrm>
            <a:off x="548640" y="3794760"/>
            <a:ext cx="8046720" cy="1005840"/>
          </a:xfrm>
          <a:prstGeom prst="roundRect">
            <a:avLst>
              <a:gd name="adj" fmla="val 7273"/>
            </a:avLst>
          </a:prstGeom>
          <a:solidFill>
            <a:srgbClr val="1A140A"/>
          </a:solidFill>
          <a:ln w="6350">
            <a:solidFill>
              <a:srgbClr val="3A2A10"/>
            </a:solidFill>
            <a:prstDash val="solid"/>
          </a:ln>
        </p:spPr>
      </p:sp>
      <p:sp>
        <p:nvSpPr>
          <p:cNvPr id="17" name="Text 15"/>
          <p:cNvSpPr/>
          <p:nvPr/>
        </p:nvSpPr>
        <p:spPr>
          <a:xfrm>
            <a:off x="731520" y="3840480"/>
            <a:ext cx="7680960" cy="274320"/>
          </a:xfrm>
          <a:prstGeom prst="rect">
            <a:avLst/>
          </a:prstGeom>
          <a:noFill/>
          <a:ln/>
        </p:spPr>
        <p:txBody>
          <a:bodyPr wrap="square" lIns="0" tIns="0" rIns="0" bIns="0" rtlCol="0" anchor="ctr"/>
          <a:lstStyle/>
          <a:p>
            <a:pPr indent="0" marL="0">
              <a:buNone/>
            </a:pPr>
            <a:r>
              <a:rPr lang="en-US" sz="1300" b="1" dirty="0">
                <a:solidFill>
                  <a:srgbClr val="FFA726"/>
                </a:solidFill>
                <a:latin typeface="Calibri" pitchFamily="34" charset="0"/>
                <a:ea typeface="Calibri" pitchFamily="34" charset="-122"/>
                <a:cs typeface="Calibri" pitchFamily="34" charset="-120"/>
              </a:rPr>
              <a:t>Why wait 4 hours and not send immediately?</a:t>
            </a:r>
            <a:endParaRPr lang="en-US" sz="1300" dirty="0"/>
          </a:p>
        </p:txBody>
      </p:sp>
      <p:sp>
        <p:nvSpPr>
          <p:cNvPr id="18" name="Text 16"/>
          <p:cNvSpPr/>
          <p:nvPr/>
        </p:nvSpPr>
        <p:spPr>
          <a:xfrm>
            <a:off x="731520" y="4160520"/>
            <a:ext cx="7680960" cy="594360"/>
          </a:xfrm>
          <a:prstGeom prst="rect">
            <a:avLst/>
          </a:prstGeom>
          <a:noFill/>
          <a:ln/>
        </p:spPr>
        <p:txBody>
          <a:bodyPr wrap="square" lIns="0" tIns="0" rIns="0" bIns="0" rtlCol="0" anchor="ctr"/>
          <a:lstStyle/>
          <a:p>
            <a:pPr indent="0" marL="0">
              <a:buNone/>
            </a:pPr>
            <a:r>
              <a:rPr lang="en-US" sz="1050" dirty="0">
                <a:solidFill>
                  <a:srgbClr val="777777"/>
                </a:solidFill>
                <a:latin typeface="Calibri" pitchFamily="34" charset="0"/>
                <a:ea typeface="Calibri" pitchFamily="34" charset="-122"/>
                <a:cs typeface="Calibri" pitchFamily="34" charset="-120"/>
              </a:rPr>
              <a:t>Most delivery partners in India do two rounds in a day, one in the morning and one in the evening. If someone is supposed to get the order by afternoon and it does not come, there is a good chance it is coming in the evening round. Sending a panic message at hour one worries the user for no reason. I would test 4 hours vs 6 hours vs 8 hours in the first week to see which results in fewer support calls.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548640" y="228600"/>
            <a:ext cx="8229600" cy="4572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Task 2: Resolution Path &amp; Edge Cases</a:t>
            </a:r>
            <a:endParaRPr lang="en-US" sz="3000" dirty="0"/>
          </a:p>
        </p:txBody>
      </p:sp>
      <p:sp>
        <p:nvSpPr>
          <p:cNvPr id="3" name="Text 1"/>
          <p:cNvSpPr/>
          <p:nvPr/>
        </p:nvSpPr>
        <p:spPr>
          <a:xfrm>
            <a:off x="548640" y="777240"/>
            <a:ext cx="4114800" cy="274320"/>
          </a:xfrm>
          <a:prstGeom prst="rect">
            <a:avLst/>
          </a:prstGeom>
          <a:noFill/>
          <a:ln/>
        </p:spPr>
        <p:txBody>
          <a:bodyPr wrap="square" lIns="0" tIns="0" rIns="0" bIns="0" rtlCol="0" anchor="ctr"/>
          <a:lstStyle/>
          <a:p>
            <a:pPr indent="0" marL="0">
              <a:buNone/>
            </a:pPr>
            <a:r>
              <a:rPr lang="en-US" sz="1500" b="1" dirty="0">
                <a:solidFill>
                  <a:srgbClr val="FF6B35"/>
                </a:solidFill>
                <a:latin typeface="Calibri" pitchFamily="34" charset="0"/>
                <a:ea typeface="Calibri" pitchFamily="34" charset="-122"/>
                <a:cs typeface="Calibri" pitchFamily="34" charset="-120"/>
              </a:rPr>
              <a:t>If the revised ETA is also missed</a:t>
            </a:r>
            <a:endParaRPr lang="en-US" sz="1500" dirty="0"/>
          </a:p>
        </p:txBody>
      </p:sp>
      <p:sp>
        <p:nvSpPr>
          <p:cNvPr id="4" name="Text 2"/>
          <p:cNvSpPr/>
          <p:nvPr/>
        </p:nvSpPr>
        <p:spPr>
          <a:xfrm>
            <a:off x="548640" y="1097280"/>
            <a:ext cx="4114800" cy="228600"/>
          </a:xfrm>
          <a:prstGeom prst="rect">
            <a:avLst/>
          </a:prstGeom>
          <a:noFill/>
          <a:ln/>
        </p:spPr>
        <p:txBody>
          <a:bodyPr wrap="square" lIns="0" tIns="0" rIns="0" bIns="0" rtlCol="0" anchor="ctr"/>
          <a:lstStyle/>
          <a:p>
            <a:pPr indent="0" marL="0">
              <a:buNone/>
            </a:pPr>
            <a:r>
              <a:rPr lang="en-US" sz="1100" dirty="0">
                <a:solidFill>
                  <a:srgbClr val="777777"/>
                </a:solidFill>
                <a:latin typeface="Calibri" pitchFamily="34" charset="0"/>
                <a:ea typeface="Calibri" pitchFamily="34" charset="-122"/>
                <a:cs typeface="Calibri" pitchFamily="34" charset="-120"/>
              </a:rPr>
              <a:t>Second notification goes out with clear options:</a:t>
            </a:r>
            <a:endParaRPr lang="en-US" sz="1100" dirty="0"/>
          </a:p>
        </p:txBody>
      </p:sp>
      <p:sp>
        <p:nvSpPr>
          <p:cNvPr id="5" name="Shape 3"/>
          <p:cNvSpPr/>
          <p:nvPr/>
        </p:nvSpPr>
        <p:spPr>
          <a:xfrm>
            <a:off x="640080" y="1463040"/>
            <a:ext cx="182880" cy="182880"/>
          </a:xfrm>
          <a:prstGeom prst="ellipse">
            <a:avLst/>
          </a:prstGeom>
          <a:solidFill>
            <a:srgbClr val="00C853"/>
          </a:solidFill>
          <a:ln/>
        </p:spPr>
      </p:sp>
      <p:sp>
        <p:nvSpPr>
          <p:cNvPr id="6" name="Text 4"/>
          <p:cNvSpPr/>
          <p:nvPr/>
        </p:nvSpPr>
        <p:spPr>
          <a:xfrm>
            <a:off x="960120" y="1417320"/>
            <a:ext cx="3657600" cy="2743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Continue waiting with a new ETA</a:t>
            </a:r>
            <a:endParaRPr lang="en-US" sz="1150" dirty="0"/>
          </a:p>
        </p:txBody>
      </p:sp>
      <p:sp>
        <p:nvSpPr>
          <p:cNvPr id="7" name="Shape 5"/>
          <p:cNvSpPr/>
          <p:nvPr/>
        </p:nvSpPr>
        <p:spPr>
          <a:xfrm>
            <a:off x="640080" y="1810512"/>
            <a:ext cx="182880" cy="182880"/>
          </a:xfrm>
          <a:prstGeom prst="ellipse">
            <a:avLst/>
          </a:prstGeom>
          <a:solidFill>
            <a:srgbClr val="00C853"/>
          </a:solidFill>
          <a:ln/>
        </p:spPr>
      </p:sp>
      <p:sp>
        <p:nvSpPr>
          <p:cNvPr id="8" name="Text 6"/>
          <p:cNvSpPr/>
          <p:nvPr/>
        </p:nvSpPr>
        <p:spPr>
          <a:xfrm>
            <a:off x="960120" y="1764792"/>
            <a:ext cx="3657600" cy="2743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Cancel the order and get a full refund</a:t>
            </a:r>
            <a:endParaRPr lang="en-US" sz="1150" dirty="0"/>
          </a:p>
        </p:txBody>
      </p:sp>
      <p:sp>
        <p:nvSpPr>
          <p:cNvPr id="9" name="Shape 7"/>
          <p:cNvSpPr/>
          <p:nvPr/>
        </p:nvSpPr>
        <p:spPr>
          <a:xfrm>
            <a:off x="640080" y="2157984"/>
            <a:ext cx="182880" cy="182880"/>
          </a:xfrm>
          <a:prstGeom prst="ellipse">
            <a:avLst/>
          </a:prstGeom>
          <a:solidFill>
            <a:srgbClr val="00C853"/>
          </a:solidFill>
          <a:ln/>
        </p:spPr>
      </p:sp>
      <p:sp>
        <p:nvSpPr>
          <p:cNvPr id="10" name="Text 8"/>
          <p:cNvSpPr/>
          <p:nvPr/>
        </p:nvSpPr>
        <p:spPr>
          <a:xfrm>
            <a:off x="960120" y="2112264"/>
            <a:ext cx="3657600" cy="2743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Keep the delivery and get Rs.50 POP credits</a:t>
            </a:r>
            <a:endParaRPr lang="en-US" sz="1150" dirty="0"/>
          </a:p>
        </p:txBody>
      </p:sp>
      <p:sp>
        <p:nvSpPr>
          <p:cNvPr id="11" name="Text 9"/>
          <p:cNvSpPr/>
          <p:nvPr/>
        </p:nvSpPr>
        <p:spPr>
          <a:xfrm>
            <a:off x="548640" y="2514600"/>
            <a:ext cx="4114800" cy="502920"/>
          </a:xfrm>
          <a:prstGeom prst="rect">
            <a:avLst/>
          </a:prstGeom>
          <a:noFill/>
          <a:ln/>
        </p:spPr>
        <p:txBody>
          <a:bodyPr wrap="square" lIns="0" tIns="0" rIns="0" bIns="0" rtlCol="0" anchor="ctr"/>
          <a:lstStyle/>
          <a:p>
            <a:pPr indent="0" marL="0">
              <a:buNone/>
            </a:pPr>
            <a:r>
              <a:rPr lang="en-US" sz="1000" i="1" dirty="0">
                <a:solidFill>
                  <a:srgbClr val="00C853"/>
                </a:solidFill>
                <a:latin typeface="Calibri" pitchFamily="34" charset="0"/>
                <a:ea typeface="Calibri" pitchFamily="34" charset="-122"/>
                <a:cs typeface="Calibri" pitchFamily="34" charset="-120"/>
              </a:rPr>
              <a:t>A user who chooses to wait feels very different from one who is forced to wait with no information. The credits option keeps the order alive without needing a full refund.</a:t>
            </a:r>
            <a:endParaRPr lang="en-US" sz="1000" dirty="0"/>
          </a:p>
        </p:txBody>
      </p:sp>
      <p:sp>
        <p:nvSpPr>
          <p:cNvPr id="12" name="Text 10"/>
          <p:cNvSpPr/>
          <p:nvPr/>
        </p:nvSpPr>
        <p:spPr>
          <a:xfrm>
            <a:off x="4846320" y="777240"/>
            <a:ext cx="3931920" cy="274320"/>
          </a:xfrm>
          <a:prstGeom prst="rect">
            <a:avLst/>
          </a:prstGeom>
          <a:noFill/>
          <a:ln/>
        </p:spPr>
        <p:txBody>
          <a:bodyPr wrap="square" lIns="0" tIns="0" rIns="0" bIns="0" rtlCol="0" anchor="ctr"/>
          <a:lstStyle/>
          <a:p>
            <a:pPr indent="0" marL="0">
              <a:buNone/>
            </a:pPr>
            <a:r>
              <a:rPr lang="en-US" sz="1500" b="1" dirty="0">
                <a:solidFill>
                  <a:srgbClr val="D63A1A"/>
                </a:solidFill>
                <a:latin typeface="Calibri" pitchFamily="34" charset="0"/>
                <a:ea typeface="Calibri" pitchFamily="34" charset="-122"/>
                <a:cs typeface="Calibri" pitchFamily="34" charset="-120"/>
              </a:rPr>
              <a:t>Edge Cases</a:t>
            </a:r>
            <a:endParaRPr lang="en-US" sz="1500" dirty="0"/>
          </a:p>
        </p:txBody>
      </p:sp>
      <p:sp>
        <p:nvSpPr>
          <p:cNvPr id="13" name="Shape 11"/>
          <p:cNvSpPr/>
          <p:nvPr/>
        </p:nvSpPr>
        <p:spPr>
          <a:xfrm>
            <a:off x="4846320" y="1143000"/>
            <a:ext cx="3931920" cy="731520"/>
          </a:xfrm>
          <a:prstGeom prst="roundRect">
            <a:avLst>
              <a:gd name="adj" fmla="val 7500"/>
            </a:avLst>
          </a:prstGeom>
          <a:solidFill>
            <a:srgbClr val="161616"/>
          </a:solidFill>
          <a:ln w="6350">
            <a:solidFill>
              <a:srgbClr val="262626"/>
            </a:solidFill>
            <a:prstDash val="solid"/>
          </a:ln>
          <a:effectLst>
            <a:outerShdw sx="100000" sy="100000" kx="0" ky="0" algn="bl" rotWithShape="0" blurRad="101600" dist="25400" dir="2700000">
              <a:srgbClr val="000000">
                <a:alpha val="35000"/>
              </a:srgbClr>
            </a:outerShdw>
          </a:effectLst>
        </p:spPr>
      </p:sp>
      <p:sp>
        <p:nvSpPr>
          <p:cNvPr id="14" name="Text 12"/>
          <p:cNvSpPr/>
          <p:nvPr/>
        </p:nvSpPr>
        <p:spPr>
          <a:xfrm>
            <a:off x="5029200" y="1197864"/>
            <a:ext cx="3566160" cy="2286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No delivery update at all</a:t>
            </a:r>
            <a:endParaRPr lang="en-US" sz="1200" dirty="0"/>
          </a:p>
        </p:txBody>
      </p:sp>
      <p:sp>
        <p:nvSpPr>
          <p:cNvPr id="15" name="Text 13"/>
          <p:cNvSpPr/>
          <p:nvPr/>
        </p:nvSpPr>
        <p:spPr>
          <a:xfrm>
            <a:off x="5029200" y="1463040"/>
            <a:ext cx="3566160" cy="365760"/>
          </a:xfrm>
          <a:prstGeom prst="rect">
            <a:avLst/>
          </a:prstGeom>
          <a:noFill/>
          <a:ln/>
        </p:spPr>
        <p:txBody>
          <a:bodyPr wrap="square" lIns="0" tIns="0" rIns="0" bIns="0" rtlCol="0" anchor="ctr"/>
          <a:lstStyle/>
          <a:p>
            <a:pPr indent="0" marL="0">
              <a:buNone/>
            </a:pPr>
            <a:r>
              <a:rPr lang="en-US" sz="1000" dirty="0">
                <a:solidFill>
                  <a:srgbClr val="777777"/>
                </a:solidFill>
                <a:latin typeface="Calibri" pitchFamily="34" charset="0"/>
                <a:ea typeface="Calibri" pitchFamily="34" charset="-122"/>
                <a:cs typeface="Calibri" pitchFamily="34" charset="-120"/>
              </a:rPr>
              <a:t>If courier goes dark for 12+ hours, do not message the user until our team has checked. Sending wrong info is worse than nothing.</a:t>
            </a:r>
            <a:endParaRPr lang="en-US" sz="1000" dirty="0"/>
          </a:p>
        </p:txBody>
      </p:sp>
      <p:sp>
        <p:nvSpPr>
          <p:cNvPr id="16" name="Shape 14"/>
          <p:cNvSpPr/>
          <p:nvPr/>
        </p:nvSpPr>
        <p:spPr>
          <a:xfrm>
            <a:off x="4846320" y="2011680"/>
            <a:ext cx="3931920" cy="731520"/>
          </a:xfrm>
          <a:prstGeom prst="roundRect">
            <a:avLst>
              <a:gd name="adj" fmla="val 7500"/>
            </a:avLst>
          </a:prstGeom>
          <a:solidFill>
            <a:srgbClr val="161616"/>
          </a:solidFill>
          <a:ln w="6350">
            <a:solidFill>
              <a:srgbClr val="262626"/>
            </a:solidFill>
            <a:prstDash val="solid"/>
          </a:ln>
          <a:effectLst>
            <a:outerShdw sx="100000" sy="100000" kx="0" ky="0" algn="bl" rotWithShape="0" blurRad="101600" dist="25400" dir="2700000">
              <a:srgbClr val="000000">
                <a:alpha val="35000"/>
              </a:srgbClr>
            </a:outerShdw>
          </a:effectLst>
        </p:spPr>
      </p:sp>
      <p:sp>
        <p:nvSpPr>
          <p:cNvPr id="17" name="Text 15"/>
          <p:cNvSpPr/>
          <p:nvPr/>
        </p:nvSpPr>
        <p:spPr>
          <a:xfrm>
            <a:off x="5029200" y="2066544"/>
            <a:ext cx="3566160" cy="2286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Revised date also missed</a:t>
            </a:r>
            <a:endParaRPr lang="en-US" sz="1200" dirty="0"/>
          </a:p>
        </p:txBody>
      </p:sp>
      <p:sp>
        <p:nvSpPr>
          <p:cNvPr id="18" name="Text 16"/>
          <p:cNvSpPr/>
          <p:nvPr/>
        </p:nvSpPr>
        <p:spPr>
          <a:xfrm>
            <a:off x="5029200" y="2331720"/>
            <a:ext cx="3566160" cy="365760"/>
          </a:xfrm>
          <a:prstGeom prst="rect">
            <a:avLst/>
          </a:prstGeom>
          <a:noFill/>
          <a:ln/>
        </p:spPr>
        <p:txBody>
          <a:bodyPr wrap="square" lIns="0" tIns="0" rIns="0" bIns="0" rtlCol="0" anchor="ctr"/>
          <a:lstStyle/>
          <a:p>
            <a:pPr indent="0" marL="0">
              <a:buNone/>
            </a:pPr>
            <a:r>
              <a:rPr lang="en-US" sz="1000" dirty="0">
                <a:solidFill>
                  <a:srgbClr val="777777"/>
                </a:solidFill>
                <a:latin typeface="Calibri" pitchFamily="34" charset="0"/>
                <a:ea typeface="Calibri" pitchFamily="34" charset="-122"/>
                <a:cs typeface="Calibri" pitchFamily="34" charset="-120"/>
              </a:rPr>
              <a:t>Connect user to a real person, not another automated message. Cancel + refund option clearly visible.</a:t>
            </a:r>
            <a:endParaRPr lang="en-US" sz="1000" dirty="0"/>
          </a:p>
        </p:txBody>
      </p:sp>
      <p:sp>
        <p:nvSpPr>
          <p:cNvPr id="19" name="Shape 17"/>
          <p:cNvSpPr/>
          <p:nvPr/>
        </p:nvSpPr>
        <p:spPr>
          <a:xfrm>
            <a:off x="4846320" y="2880360"/>
            <a:ext cx="3931920" cy="731520"/>
          </a:xfrm>
          <a:prstGeom prst="roundRect">
            <a:avLst>
              <a:gd name="adj" fmla="val 7500"/>
            </a:avLst>
          </a:prstGeom>
          <a:solidFill>
            <a:srgbClr val="161616"/>
          </a:solidFill>
          <a:ln w="6350">
            <a:solidFill>
              <a:srgbClr val="262626"/>
            </a:solidFill>
            <a:prstDash val="solid"/>
          </a:ln>
          <a:effectLst>
            <a:outerShdw sx="100000" sy="100000" kx="0" ky="0" algn="bl" rotWithShape="0" blurRad="101600" dist="25400" dir="2700000">
              <a:srgbClr val="000000">
                <a:alpha val="35000"/>
              </a:srgbClr>
            </a:outerShdw>
          </a:effectLst>
        </p:spPr>
      </p:sp>
      <p:sp>
        <p:nvSpPr>
          <p:cNvPr id="20" name="Text 18"/>
          <p:cNvSpPr/>
          <p:nvPr/>
        </p:nvSpPr>
        <p:spPr>
          <a:xfrm>
            <a:off x="5029200" y="2935224"/>
            <a:ext cx="3566160" cy="2286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Too many delay messages</a:t>
            </a:r>
            <a:endParaRPr lang="en-US" sz="1200" dirty="0"/>
          </a:p>
        </p:txBody>
      </p:sp>
      <p:sp>
        <p:nvSpPr>
          <p:cNvPr id="21" name="Text 19"/>
          <p:cNvSpPr/>
          <p:nvPr/>
        </p:nvSpPr>
        <p:spPr>
          <a:xfrm>
            <a:off x="5029200" y="3200400"/>
            <a:ext cx="3566160" cy="365760"/>
          </a:xfrm>
          <a:prstGeom prst="rect">
            <a:avLst/>
          </a:prstGeom>
          <a:noFill/>
          <a:ln/>
        </p:spPr>
        <p:txBody>
          <a:bodyPr wrap="square" lIns="0" tIns="0" rIns="0" bIns="0" rtlCol="0" anchor="ctr"/>
          <a:lstStyle/>
          <a:p>
            <a:pPr indent="0" marL="0">
              <a:buNone/>
            </a:pPr>
            <a:r>
              <a:rPr lang="en-US" sz="1000" dirty="0">
                <a:solidFill>
                  <a:srgbClr val="777777"/>
                </a:solidFill>
                <a:latin typeface="Calibri" pitchFamily="34" charset="0"/>
                <a:ea typeface="Calibri" pitchFamily="34" charset="-122"/>
                <a:cs typeface="Calibri" pitchFamily="34" charset="-120"/>
              </a:rPr>
              <a:t>Cap at 3 delay updates per order. After the third, a real person reaches out.</a:t>
            </a:r>
            <a:endParaRPr lang="en-US" sz="1000" dirty="0"/>
          </a:p>
        </p:txBody>
      </p:sp>
      <p:pic>
        <p:nvPicPr>
          <p:cNvPr id="22" name="Image 0" descr="/home/claude/screen2.png">    </p:cNvPr>
          <p:cNvPicPr>
            <a:picLocks noChangeAspect="1"/>
          </p:cNvPicPr>
          <p:nvPr/>
        </p:nvPicPr>
        <p:blipFill>
          <a:blip r:embed="rId1"/>
          <a:stretch>
            <a:fillRect/>
          </a:stretch>
        </p:blipFill>
        <p:spPr>
          <a:xfrm>
            <a:off x="731520" y="3108960"/>
            <a:ext cx="1645920" cy="1828800"/>
          </a:xfrm>
          <a:prstGeom prst="rect">
            <a:avLst/>
          </a:prstGeom>
        </p:spPr>
      </p:pic>
      <p:sp>
        <p:nvSpPr>
          <p:cNvPr id="23" name="Text 20"/>
          <p:cNvSpPr/>
          <p:nvPr/>
        </p:nvSpPr>
        <p:spPr>
          <a:xfrm>
            <a:off x="2560320" y="3840480"/>
            <a:ext cx="2286000" cy="365760"/>
          </a:xfrm>
          <a:prstGeom prst="rect">
            <a:avLst/>
          </a:prstGeom>
          <a:noFill/>
          <a:ln/>
        </p:spPr>
        <p:txBody>
          <a:bodyPr wrap="square" lIns="0" tIns="0" rIns="0" bIns="0" rtlCol="0" anchor="ctr"/>
          <a:lstStyle/>
          <a:p>
            <a:pPr indent="0" marL="0">
              <a:buNone/>
            </a:pPr>
            <a:r>
              <a:rPr lang="en-US" sz="900" dirty="0">
                <a:solidFill>
                  <a:srgbClr val="777777"/>
                </a:solidFill>
                <a:latin typeface="Calibri" pitchFamily="34" charset="0"/>
                <a:ea typeface="Calibri" pitchFamily="34" charset="-122"/>
                <a:cs typeface="Calibri" pitchFamily="34" charset="-120"/>
              </a:rPr>
              <a:t>Resolution bottom sheet gives the user control over what happens next.</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548640" y="320040"/>
            <a:ext cx="8229600" cy="5029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Task 2: What I Would Not Build Yet</a:t>
            </a:r>
            <a:endParaRPr lang="en-US" sz="3000" dirty="0"/>
          </a:p>
        </p:txBody>
      </p:sp>
      <p:sp>
        <p:nvSpPr>
          <p:cNvPr id="3" name="Shape 1"/>
          <p:cNvSpPr/>
          <p:nvPr/>
        </p:nvSpPr>
        <p:spPr>
          <a:xfrm>
            <a:off x="548640" y="1051560"/>
            <a:ext cx="8046720" cy="1051560"/>
          </a:xfrm>
          <a:prstGeom prst="roundRect">
            <a:avLst>
              <a:gd name="adj" fmla="val 6957"/>
            </a:avLst>
          </a:prstGeom>
          <a:solidFill>
            <a:srgbClr val="161616"/>
          </a:solidFill>
          <a:ln w="6350">
            <a:solidFill>
              <a:srgbClr val="262626"/>
            </a:solidFill>
            <a:prstDash val="solid"/>
          </a:ln>
          <a:effectLst>
            <a:outerShdw sx="100000" sy="100000" kx="0" ky="0" algn="bl" rotWithShape="0" blurRad="101600" dist="25400" dir="2700000">
              <a:srgbClr val="000000">
                <a:alpha val="35000"/>
              </a:srgbClr>
            </a:outerShdw>
          </a:effectLst>
        </p:spPr>
      </p:sp>
      <p:sp>
        <p:nvSpPr>
          <p:cNvPr id="4" name="Text 2"/>
          <p:cNvSpPr/>
          <p:nvPr/>
        </p:nvSpPr>
        <p:spPr>
          <a:xfrm>
            <a:off x="777240" y="1161288"/>
            <a:ext cx="7589520" cy="2743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Live courier map</a:t>
            </a:r>
            <a:endParaRPr lang="en-US" sz="1500" dirty="0"/>
          </a:p>
        </p:txBody>
      </p:sp>
      <p:sp>
        <p:nvSpPr>
          <p:cNvPr id="5" name="Text 3"/>
          <p:cNvSpPr/>
          <p:nvPr/>
        </p:nvSpPr>
        <p:spPr>
          <a:xfrm>
            <a:off x="777240" y="1490472"/>
            <a:ext cx="7589520" cy="548640"/>
          </a:xfrm>
          <a:prstGeom prst="rect">
            <a:avLst/>
          </a:prstGeom>
          <a:noFill/>
          <a:ln/>
        </p:spPr>
        <p:txBody>
          <a:bodyPr wrap="square" lIns="0" tIns="0" rIns="0" bIns="0" rtlCol="0" anchor="ctr"/>
          <a:lstStyle/>
          <a:p>
            <a:pPr indent="0" marL="0">
              <a:buNone/>
            </a:pPr>
            <a:r>
              <a:rPr lang="en-US" sz="1100" dirty="0">
                <a:solidFill>
                  <a:srgbClr val="777777"/>
                </a:solidFill>
                <a:latin typeface="Calibri" pitchFamily="34" charset="0"/>
                <a:ea typeface="Calibri" pitchFamily="34" charset="-122"/>
                <a:cs typeface="Calibri" pitchFamily="34" charset="-120"/>
              </a:rPr>
              <a:t>Needs real-time GPS from carrier partners. In India this data is unreliable. If the map shows courier is 2 km away when they are at a different hub, it destroys trust faster than having no map. Revisit when GPS reliability crosses 95%.</a:t>
            </a:r>
            <a:endParaRPr lang="en-US" sz="1100" dirty="0"/>
          </a:p>
        </p:txBody>
      </p:sp>
      <p:sp>
        <p:nvSpPr>
          <p:cNvPr id="6" name="Shape 4"/>
          <p:cNvSpPr/>
          <p:nvPr/>
        </p:nvSpPr>
        <p:spPr>
          <a:xfrm>
            <a:off x="548640" y="2286000"/>
            <a:ext cx="8046720" cy="1051560"/>
          </a:xfrm>
          <a:prstGeom prst="roundRect">
            <a:avLst>
              <a:gd name="adj" fmla="val 6957"/>
            </a:avLst>
          </a:prstGeom>
          <a:solidFill>
            <a:srgbClr val="161616"/>
          </a:solidFill>
          <a:ln w="6350">
            <a:solidFill>
              <a:srgbClr val="262626"/>
            </a:solidFill>
            <a:prstDash val="solid"/>
          </a:ln>
          <a:effectLst>
            <a:outerShdw sx="100000" sy="100000" kx="0" ky="0" algn="bl" rotWithShape="0" blurRad="101600" dist="25400" dir="2700000">
              <a:srgbClr val="000000">
                <a:alpha val="35000"/>
              </a:srgbClr>
            </a:outerShdw>
          </a:effectLst>
        </p:spPr>
      </p:sp>
      <p:sp>
        <p:nvSpPr>
          <p:cNvPr id="7" name="Text 5"/>
          <p:cNvSpPr/>
          <p:nvPr/>
        </p:nvSpPr>
        <p:spPr>
          <a:xfrm>
            <a:off x="777240" y="2395728"/>
            <a:ext cx="7589520" cy="2743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Auto-compensation for every delay</a:t>
            </a:r>
            <a:endParaRPr lang="en-US" sz="1500" dirty="0"/>
          </a:p>
        </p:txBody>
      </p:sp>
      <p:sp>
        <p:nvSpPr>
          <p:cNvPr id="8" name="Text 6"/>
          <p:cNvSpPr/>
          <p:nvPr/>
        </p:nvSpPr>
        <p:spPr>
          <a:xfrm>
            <a:off x="777240" y="2724912"/>
            <a:ext cx="7589520" cy="548640"/>
          </a:xfrm>
          <a:prstGeom prst="rect">
            <a:avLst/>
          </a:prstGeom>
          <a:noFill/>
          <a:ln/>
        </p:spPr>
        <p:txBody>
          <a:bodyPr wrap="square" lIns="0" tIns="0" rIns="0" bIns="0" rtlCol="0" anchor="ctr"/>
          <a:lstStyle/>
          <a:p>
            <a:pPr indent="0" marL="0">
              <a:buNone/>
            </a:pPr>
            <a:r>
              <a:rPr lang="en-US" sz="1100" dirty="0">
                <a:solidFill>
                  <a:srgbClr val="777777"/>
                </a:solidFill>
                <a:latin typeface="Calibri" pitchFamily="34" charset="0"/>
                <a:ea typeface="Calibri" pitchFamily="34" charset="-122"/>
                <a:cs typeface="Calibri" pitchFamily="34" charset="-120"/>
              </a:rPr>
              <a:t>If every late order gets credits automatically, users learn that delays equal free money. That changes behaviour and can be gamed. Keep compensation for repeated failures only.</a:t>
            </a:r>
            <a:endParaRPr lang="en-US" sz="1100" dirty="0"/>
          </a:p>
        </p:txBody>
      </p:sp>
      <p:sp>
        <p:nvSpPr>
          <p:cNvPr id="9" name="Shape 7"/>
          <p:cNvSpPr/>
          <p:nvPr/>
        </p:nvSpPr>
        <p:spPr>
          <a:xfrm>
            <a:off x="548640" y="3520440"/>
            <a:ext cx="8046720" cy="1051560"/>
          </a:xfrm>
          <a:prstGeom prst="roundRect">
            <a:avLst>
              <a:gd name="adj" fmla="val 6957"/>
            </a:avLst>
          </a:prstGeom>
          <a:solidFill>
            <a:srgbClr val="161616"/>
          </a:solidFill>
          <a:ln w="6350">
            <a:solidFill>
              <a:srgbClr val="262626"/>
            </a:solidFill>
            <a:prstDash val="solid"/>
          </a:ln>
          <a:effectLst>
            <a:outerShdw sx="100000" sy="100000" kx="0" ky="0" algn="bl" rotWithShape="0" blurRad="101600" dist="25400" dir="2700000">
              <a:srgbClr val="000000">
                <a:alpha val="35000"/>
              </a:srgbClr>
            </a:outerShdw>
          </a:effectLst>
        </p:spPr>
      </p:sp>
      <p:sp>
        <p:nvSpPr>
          <p:cNvPr id="10" name="Text 8"/>
          <p:cNvSpPr/>
          <p:nvPr/>
        </p:nvSpPr>
        <p:spPr>
          <a:xfrm>
            <a:off x="777240" y="3630168"/>
            <a:ext cx="7589520" cy="2743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ML-based ETA prediction</a:t>
            </a:r>
            <a:endParaRPr lang="en-US" sz="1500" dirty="0"/>
          </a:p>
        </p:txBody>
      </p:sp>
      <p:sp>
        <p:nvSpPr>
          <p:cNvPr id="11" name="Text 9"/>
          <p:cNvSpPr/>
          <p:nvPr/>
        </p:nvSpPr>
        <p:spPr>
          <a:xfrm>
            <a:off x="777240" y="3959352"/>
            <a:ext cx="7589520" cy="548640"/>
          </a:xfrm>
          <a:prstGeom prst="rect">
            <a:avLst/>
          </a:prstGeom>
          <a:noFill/>
          <a:ln/>
        </p:spPr>
        <p:txBody>
          <a:bodyPr wrap="square" lIns="0" tIns="0" rIns="0" bIns="0" rtlCol="0" anchor="ctr"/>
          <a:lstStyle/>
          <a:p>
            <a:pPr indent="0" marL="0">
              <a:buNone/>
            </a:pPr>
            <a:r>
              <a:rPr lang="en-US" sz="1100" dirty="0">
                <a:solidFill>
                  <a:srgbClr val="777777"/>
                </a:solidFill>
                <a:latin typeface="Calibri" pitchFamily="34" charset="0"/>
                <a:ea typeface="Calibri" pitchFamily="34" charset="-122"/>
                <a:cs typeface="Calibri" pitchFamily="34" charset="-120"/>
              </a:rPr>
              <a:t>We do not have clean route-level or pincode-level data to train on right now. Building better communication first will actually generate the structured data needed for ML later.</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548640" y="320040"/>
            <a:ext cx="8229600" cy="5029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Task 3: Where AI Genuinely Helps</a:t>
            </a:r>
            <a:endParaRPr lang="en-US" sz="3000" dirty="0"/>
          </a:p>
        </p:txBody>
      </p:sp>
      <p:sp>
        <p:nvSpPr>
          <p:cNvPr id="3" name="Text 1"/>
          <p:cNvSpPr/>
          <p:nvPr/>
        </p:nvSpPr>
        <p:spPr>
          <a:xfrm>
            <a:off x="548640" y="868680"/>
            <a:ext cx="8229600" cy="320040"/>
          </a:xfrm>
          <a:prstGeom prst="rect">
            <a:avLst/>
          </a:prstGeom>
          <a:noFill/>
          <a:ln/>
        </p:spPr>
        <p:txBody>
          <a:bodyPr wrap="square" lIns="0" tIns="0" rIns="0" bIns="0" rtlCol="0" anchor="ctr"/>
          <a:lstStyle/>
          <a:p>
            <a:pPr indent="0" marL="0">
              <a:buNone/>
            </a:pPr>
            <a:r>
              <a:rPr lang="en-US" sz="1600" b="1" dirty="0">
                <a:solidFill>
                  <a:srgbClr val="00C853"/>
                </a:solidFill>
                <a:latin typeface="Calibri" pitchFamily="34" charset="0"/>
                <a:ea typeface="Calibri" pitchFamily="34" charset="-122"/>
                <a:cs typeface="Calibri" pitchFamily="34" charset="-120"/>
              </a:rPr>
              <a:t>Status Code Translation</a:t>
            </a:r>
            <a:endParaRPr lang="en-US" sz="1600" dirty="0"/>
          </a:p>
        </p:txBody>
      </p:sp>
      <p:sp>
        <p:nvSpPr>
          <p:cNvPr id="4" name="Text 2"/>
          <p:cNvSpPr/>
          <p:nvPr/>
        </p:nvSpPr>
        <p:spPr>
          <a:xfrm>
            <a:off x="548640" y="1234440"/>
            <a:ext cx="8046720" cy="548640"/>
          </a:xfrm>
          <a:prstGeom prst="rect">
            <a:avLst/>
          </a:prstGeom>
          <a:noFill/>
          <a:ln/>
        </p:spPr>
        <p:txBody>
          <a:bodyPr wrap="square" lIns="0" tIns="0" rIns="0" bIns="0" rtlCol="0" anchor="ctr"/>
          <a:lstStyle/>
          <a:p>
            <a:pPr indent="0" marL="0">
              <a:buNone/>
            </a:pPr>
            <a:r>
              <a:rPr lang="en-US" sz="1200" dirty="0">
                <a:solidFill>
                  <a:srgbClr val="AAAAAA"/>
                </a:solidFill>
                <a:latin typeface="Calibri" pitchFamily="34" charset="0"/>
                <a:ea typeface="Calibri" pitchFamily="34" charset="-122"/>
                <a:cs typeface="Calibri" pitchFamily="34" charset="-120"/>
              </a:rPr>
              <a:t>Delivery companies like Delhivery or Shadowfax update their systems with internal status codes written for warehouse staff, not customers. Most apps either show this confusing text directly or hide it behind a generic "In Transit" which tells the user nothing.</a:t>
            </a:r>
            <a:endParaRPr lang="en-US" sz="1200" dirty="0"/>
          </a:p>
        </p:txBody>
      </p:sp>
      <p:sp>
        <p:nvSpPr>
          <p:cNvPr id="5" name="Text 3"/>
          <p:cNvSpPr/>
          <p:nvPr/>
        </p:nvSpPr>
        <p:spPr>
          <a:xfrm>
            <a:off x="548640" y="1828800"/>
            <a:ext cx="804672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AI reads the delivery company's internal update and rewrites it in simple words before showing the user.</a:t>
            </a:r>
            <a:endParaRPr lang="en-US" sz="1200" dirty="0"/>
          </a:p>
        </p:txBody>
      </p:sp>
      <p:sp>
        <p:nvSpPr>
          <p:cNvPr id="6" name="Shape 4"/>
          <p:cNvSpPr/>
          <p:nvPr/>
        </p:nvSpPr>
        <p:spPr>
          <a:xfrm>
            <a:off x="548640" y="2331720"/>
            <a:ext cx="3840480" cy="1051560"/>
          </a:xfrm>
          <a:prstGeom prst="roundRect">
            <a:avLst>
              <a:gd name="adj" fmla="val 5217"/>
            </a:avLst>
          </a:prstGeom>
          <a:solidFill>
            <a:srgbClr val="161616"/>
          </a:solidFill>
          <a:ln w="6350">
            <a:solidFill>
              <a:srgbClr val="262626"/>
            </a:solidFill>
            <a:prstDash val="solid"/>
          </a:ln>
          <a:effectLst>
            <a:outerShdw sx="100000" sy="100000" kx="0" ky="0" algn="bl" rotWithShape="0" blurRad="101600" dist="25400" dir="2700000">
              <a:srgbClr val="000000">
                <a:alpha val="35000"/>
              </a:srgbClr>
            </a:outerShdw>
          </a:effectLst>
        </p:spPr>
      </p:sp>
      <p:sp>
        <p:nvSpPr>
          <p:cNvPr id="7" name="Text 5"/>
          <p:cNvSpPr/>
          <p:nvPr/>
        </p:nvSpPr>
        <p:spPr>
          <a:xfrm>
            <a:off x="731520" y="2377440"/>
            <a:ext cx="3474720" cy="228600"/>
          </a:xfrm>
          <a:prstGeom prst="rect">
            <a:avLst/>
          </a:prstGeom>
          <a:noFill/>
          <a:ln/>
        </p:spPr>
        <p:txBody>
          <a:bodyPr wrap="square" lIns="0" tIns="0" rIns="0" bIns="0" rtlCol="0" anchor="ctr"/>
          <a:lstStyle/>
          <a:p>
            <a:pPr indent="0" marL="0">
              <a:buNone/>
            </a:pPr>
            <a:r>
              <a:rPr lang="en-US" sz="1000" b="1" dirty="0">
                <a:solidFill>
                  <a:srgbClr val="D63A1A"/>
                </a:solidFill>
                <a:latin typeface="Calibri" pitchFamily="34" charset="0"/>
                <a:ea typeface="Calibri" pitchFamily="34" charset="-122"/>
                <a:cs typeface="Calibri" pitchFamily="34" charset="-120"/>
              </a:rPr>
              <a:t>Delivery system says:</a:t>
            </a:r>
            <a:endParaRPr lang="en-US" sz="1000" dirty="0"/>
          </a:p>
        </p:txBody>
      </p:sp>
      <p:sp>
        <p:nvSpPr>
          <p:cNvPr id="8" name="Text 6"/>
          <p:cNvSpPr/>
          <p:nvPr/>
        </p:nvSpPr>
        <p:spPr>
          <a:xfrm>
            <a:off x="731520" y="2606040"/>
            <a:ext cx="3474720" cy="228600"/>
          </a:xfrm>
          <a:prstGeom prst="rect">
            <a:avLst/>
          </a:prstGeom>
          <a:noFill/>
          <a:ln/>
        </p:spPr>
        <p:txBody>
          <a:bodyPr wrap="square" lIns="0" tIns="0" rIns="0" bIns="0" rtlCol="0" anchor="ctr"/>
          <a:lstStyle/>
          <a:p>
            <a:pPr indent="0" marL="0">
              <a:buNone/>
            </a:pPr>
            <a:r>
              <a:rPr lang="en-US" sz="1100" dirty="0">
                <a:solidFill>
                  <a:srgbClr val="777777"/>
                </a:solidFill>
                <a:latin typeface="Calibri" pitchFamily="34" charset="0"/>
                <a:ea typeface="Calibri" pitchFamily="34" charset="-122"/>
                <a:cs typeface="Calibri" pitchFamily="34" charset="-120"/>
              </a:rPr>
              <a:t>"Shipment exception, hub sorting delay"</a:t>
            </a:r>
            <a:endParaRPr lang="en-US" sz="1100" dirty="0"/>
          </a:p>
        </p:txBody>
      </p:sp>
      <p:sp>
        <p:nvSpPr>
          <p:cNvPr id="9" name="Text 7"/>
          <p:cNvSpPr/>
          <p:nvPr/>
        </p:nvSpPr>
        <p:spPr>
          <a:xfrm>
            <a:off x="731520" y="2880360"/>
            <a:ext cx="3474720" cy="182880"/>
          </a:xfrm>
          <a:prstGeom prst="rect">
            <a:avLst/>
          </a:prstGeom>
          <a:noFill/>
          <a:ln/>
        </p:spPr>
        <p:txBody>
          <a:bodyPr wrap="square" lIns="0" tIns="0" rIns="0" bIns="0" rtlCol="0" anchor="ctr"/>
          <a:lstStyle/>
          <a:p>
            <a:pPr indent="0" marL="0">
              <a:buNone/>
            </a:pPr>
            <a:r>
              <a:rPr lang="en-US" sz="1000" b="1" dirty="0">
                <a:solidFill>
                  <a:srgbClr val="00C853"/>
                </a:solidFill>
                <a:latin typeface="Calibri" pitchFamily="34" charset="0"/>
                <a:ea typeface="Calibri" pitchFamily="34" charset="-122"/>
                <a:cs typeface="Calibri" pitchFamily="34" charset="-120"/>
              </a:rPr>
              <a:t>User sees:</a:t>
            </a:r>
            <a:endParaRPr lang="en-US" sz="1000" dirty="0"/>
          </a:p>
        </p:txBody>
      </p:sp>
      <p:sp>
        <p:nvSpPr>
          <p:cNvPr id="10" name="Text 8"/>
          <p:cNvSpPr/>
          <p:nvPr/>
        </p:nvSpPr>
        <p:spPr>
          <a:xfrm>
            <a:off x="731520" y="3063240"/>
            <a:ext cx="3474720" cy="2743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"Your package reached the warehouse but got held up today. It should move in the next 12 to 24 hours."</a:t>
            </a:r>
            <a:endParaRPr lang="en-US" sz="1100" dirty="0"/>
          </a:p>
        </p:txBody>
      </p:sp>
      <p:sp>
        <p:nvSpPr>
          <p:cNvPr id="11" name="Shape 9"/>
          <p:cNvSpPr/>
          <p:nvPr/>
        </p:nvSpPr>
        <p:spPr>
          <a:xfrm>
            <a:off x="4754880" y="2331720"/>
            <a:ext cx="3840480" cy="1051560"/>
          </a:xfrm>
          <a:prstGeom prst="roundRect">
            <a:avLst>
              <a:gd name="adj" fmla="val 5217"/>
            </a:avLst>
          </a:prstGeom>
          <a:solidFill>
            <a:srgbClr val="161616"/>
          </a:solidFill>
          <a:ln w="6350">
            <a:solidFill>
              <a:srgbClr val="262626"/>
            </a:solidFill>
            <a:prstDash val="solid"/>
          </a:ln>
          <a:effectLst>
            <a:outerShdw sx="100000" sy="100000" kx="0" ky="0" algn="bl" rotWithShape="0" blurRad="101600" dist="25400" dir="2700000">
              <a:srgbClr val="000000">
                <a:alpha val="35000"/>
              </a:srgbClr>
            </a:outerShdw>
          </a:effectLst>
        </p:spPr>
      </p:sp>
      <p:sp>
        <p:nvSpPr>
          <p:cNvPr id="12" name="Text 10"/>
          <p:cNvSpPr/>
          <p:nvPr/>
        </p:nvSpPr>
        <p:spPr>
          <a:xfrm>
            <a:off x="4937760" y="2377440"/>
            <a:ext cx="3474720" cy="228600"/>
          </a:xfrm>
          <a:prstGeom prst="rect">
            <a:avLst/>
          </a:prstGeom>
          <a:noFill/>
          <a:ln/>
        </p:spPr>
        <p:txBody>
          <a:bodyPr wrap="square" lIns="0" tIns="0" rIns="0" bIns="0" rtlCol="0" anchor="ctr"/>
          <a:lstStyle/>
          <a:p>
            <a:pPr indent="0" marL="0">
              <a:buNone/>
            </a:pPr>
            <a:r>
              <a:rPr lang="en-US" sz="1000" b="1" dirty="0">
                <a:solidFill>
                  <a:srgbClr val="D63A1A"/>
                </a:solidFill>
                <a:latin typeface="Calibri" pitchFamily="34" charset="0"/>
                <a:ea typeface="Calibri" pitchFamily="34" charset="-122"/>
                <a:cs typeface="Calibri" pitchFamily="34" charset="-120"/>
              </a:rPr>
              <a:t>Delivery system says:</a:t>
            </a:r>
            <a:endParaRPr lang="en-US" sz="1000" dirty="0"/>
          </a:p>
        </p:txBody>
      </p:sp>
      <p:sp>
        <p:nvSpPr>
          <p:cNvPr id="13" name="Text 11"/>
          <p:cNvSpPr/>
          <p:nvPr/>
        </p:nvSpPr>
        <p:spPr>
          <a:xfrm>
            <a:off x="4937760" y="2606040"/>
            <a:ext cx="3474720" cy="228600"/>
          </a:xfrm>
          <a:prstGeom prst="rect">
            <a:avLst/>
          </a:prstGeom>
          <a:noFill/>
          <a:ln/>
        </p:spPr>
        <p:txBody>
          <a:bodyPr wrap="square" lIns="0" tIns="0" rIns="0" bIns="0" rtlCol="0" anchor="ctr"/>
          <a:lstStyle/>
          <a:p>
            <a:pPr indent="0" marL="0">
              <a:buNone/>
            </a:pPr>
            <a:r>
              <a:rPr lang="en-US" sz="1100" dirty="0">
                <a:solidFill>
                  <a:srgbClr val="777777"/>
                </a:solidFill>
                <a:latin typeface="Calibri" pitchFamily="34" charset="0"/>
                <a:ea typeface="Calibri" pitchFamily="34" charset="-122"/>
                <a:cs typeface="Calibri" pitchFamily="34" charset="-120"/>
              </a:rPr>
              <a:t>"FM attempt failed, customer unavailable"</a:t>
            </a:r>
            <a:endParaRPr lang="en-US" sz="1100" dirty="0"/>
          </a:p>
        </p:txBody>
      </p:sp>
      <p:sp>
        <p:nvSpPr>
          <p:cNvPr id="14" name="Text 12"/>
          <p:cNvSpPr/>
          <p:nvPr/>
        </p:nvSpPr>
        <p:spPr>
          <a:xfrm>
            <a:off x="4937760" y="2880360"/>
            <a:ext cx="3474720" cy="182880"/>
          </a:xfrm>
          <a:prstGeom prst="rect">
            <a:avLst/>
          </a:prstGeom>
          <a:noFill/>
          <a:ln/>
        </p:spPr>
        <p:txBody>
          <a:bodyPr wrap="square" lIns="0" tIns="0" rIns="0" bIns="0" rtlCol="0" anchor="ctr"/>
          <a:lstStyle/>
          <a:p>
            <a:pPr indent="0" marL="0">
              <a:buNone/>
            </a:pPr>
            <a:r>
              <a:rPr lang="en-US" sz="1000" b="1" dirty="0">
                <a:solidFill>
                  <a:srgbClr val="00C853"/>
                </a:solidFill>
                <a:latin typeface="Calibri" pitchFamily="34" charset="0"/>
                <a:ea typeface="Calibri" pitchFamily="34" charset="-122"/>
                <a:cs typeface="Calibri" pitchFamily="34" charset="-120"/>
              </a:rPr>
              <a:t>User sees:</a:t>
            </a:r>
            <a:endParaRPr lang="en-US" sz="1000" dirty="0"/>
          </a:p>
        </p:txBody>
      </p:sp>
      <p:sp>
        <p:nvSpPr>
          <p:cNvPr id="15" name="Text 13"/>
          <p:cNvSpPr/>
          <p:nvPr/>
        </p:nvSpPr>
        <p:spPr>
          <a:xfrm>
            <a:off x="4937760" y="3063240"/>
            <a:ext cx="3474720" cy="2743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"Our delivery partner tried to deliver but could not reach you. They will try again tomorrow. You can also update your available time here."</a:t>
            </a:r>
            <a:endParaRPr lang="en-US" sz="1100" dirty="0"/>
          </a:p>
        </p:txBody>
      </p:sp>
      <p:sp>
        <p:nvSpPr>
          <p:cNvPr id="16" name="Shape 14"/>
          <p:cNvSpPr/>
          <p:nvPr/>
        </p:nvSpPr>
        <p:spPr>
          <a:xfrm>
            <a:off x="548640" y="3657600"/>
            <a:ext cx="8046720" cy="457200"/>
          </a:xfrm>
          <a:prstGeom prst="roundRect">
            <a:avLst>
              <a:gd name="adj" fmla="val 12000"/>
            </a:avLst>
          </a:prstGeom>
          <a:solidFill>
            <a:srgbClr val="0D3A1A"/>
          </a:solidFill>
          <a:ln/>
        </p:spPr>
      </p:sp>
      <p:sp>
        <p:nvSpPr>
          <p:cNvPr id="17" name="Text 15"/>
          <p:cNvSpPr/>
          <p:nvPr/>
        </p:nvSpPr>
        <p:spPr>
          <a:xfrm>
            <a:off x="731520" y="3657600"/>
            <a:ext cx="7680960" cy="457200"/>
          </a:xfrm>
          <a:prstGeom prst="rect">
            <a:avLst/>
          </a:prstGeom>
          <a:noFill/>
          <a:ln/>
        </p:spPr>
        <p:txBody>
          <a:bodyPr wrap="square" lIns="0" tIns="0" rIns="0" bIns="0" rtlCol="0" anchor="ctr"/>
          <a:lstStyle/>
          <a:p>
            <a:pPr indent="0" marL="0">
              <a:buNone/>
            </a:pPr>
            <a:r>
              <a:rPr lang="en-US" sz="1100" dirty="0">
                <a:solidFill>
                  <a:srgbClr val="00C853"/>
                </a:solidFill>
                <a:latin typeface="Calibri" pitchFamily="34" charset="0"/>
                <a:ea typeface="Calibri" pitchFamily="34" charset="-122"/>
                <a:cs typeface="Calibri" pitchFamily="34" charset="-120"/>
              </a:rPr>
              <a:t>AI is not making things up here. It is taking a fixed set of delivery status codes and converting each one into a readable message. It works within a defined set, it does not generate random explanations.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548640" y="320040"/>
            <a:ext cx="8229600" cy="5029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Task 3: Where AI Would Make Things Worse</a:t>
            </a:r>
            <a:endParaRPr lang="en-US" sz="3000" dirty="0"/>
          </a:p>
        </p:txBody>
      </p:sp>
      <p:sp>
        <p:nvSpPr>
          <p:cNvPr id="3" name="Text 1"/>
          <p:cNvSpPr/>
          <p:nvPr/>
        </p:nvSpPr>
        <p:spPr>
          <a:xfrm>
            <a:off x="548640" y="868680"/>
            <a:ext cx="8229600" cy="320040"/>
          </a:xfrm>
          <a:prstGeom prst="rect">
            <a:avLst/>
          </a:prstGeom>
          <a:noFill/>
          <a:ln/>
        </p:spPr>
        <p:txBody>
          <a:bodyPr wrap="square" lIns="0" tIns="0" rIns="0" bIns="0" rtlCol="0" anchor="ctr"/>
          <a:lstStyle/>
          <a:p>
            <a:pPr indent="0" marL="0">
              <a:buNone/>
            </a:pPr>
            <a:r>
              <a:rPr lang="en-US" sz="1600" b="1" dirty="0">
                <a:solidFill>
                  <a:srgbClr val="D63A1A"/>
                </a:solidFill>
                <a:latin typeface="Calibri" pitchFamily="34" charset="0"/>
                <a:ea typeface="Calibri" pitchFamily="34" charset="-122"/>
                <a:cs typeface="Calibri" pitchFamily="34" charset="-120"/>
              </a:rPr>
              <a:t>Guessing Delay Reasons</a:t>
            </a:r>
            <a:endParaRPr lang="en-US" sz="1600" dirty="0"/>
          </a:p>
        </p:txBody>
      </p:sp>
      <p:sp>
        <p:nvSpPr>
          <p:cNvPr id="4" name="Text 2"/>
          <p:cNvSpPr/>
          <p:nvPr/>
        </p:nvSpPr>
        <p:spPr>
          <a:xfrm>
            <a:off x="548640" y="1234440"/>
            <a:ext cx="8046720" cy="457200"/>
          </a:xfrm>
          <a:prstGeom prst="rect">
            <a:avLst/>
          </a:prstGeom>
          <a:noFill/>
          <a:ln/>
        </p:spPr>
        <p:txBody>
          <a:bodyPr wrap="square" lIns="0" tIns="0" rIns="0" bIns="0" rtlCol="0" anchor="ctr"/>
          <a:lstStyle/>
          <a:p>
            <a:pPr indent="0" marL="0">
              <a:buNone/>
            </a:pPr>
            <a:r>
              <a:rPr lang="en-US" sz="1200" dirty="0">
                <a:solidFill>
                  <a:srgbClr val="AAAAAA"/>
                </a:solidFill>
                <a:latin typeface="Calibri" pitchFamily="34" charset="0"/>
                <a:ea typeface="Calibri" pitchFamily="34" charset="-122"/>
                <a:cs typeface="Calibri" pitchFamily="34" charset="-120"/>
              </a:rPr>
              <a:t>If POP tries to explain WHY an order is delayed, the AI is just looking at patterns and making a guess. It has no real information about what is happening with that specific order.</a:t>
            </a:r>
            <a:endParaRPr lang="en-US" sz="1200" dirty="0"/>
          </a:p>
        </p:txBody>
      </p:sp>
      <p:sp>
        <p:nvSpPr>
          <p:cNvPr id="5" name="Shape 3"/>
          <p:cNvSpPr/>
          <p:nvPr/>
        </p:nvSpPr>
        <p:spPr>
          <a:xfrm>
            <a:off x="548640" y="1874520"/>
            <a:ext cx="8046720" cy="2103120"/>
          </a:xfrm>
          <a:prstGeom prst="roundRect">
            <a:avLst>
              <a:gd name="adj" fmla="val 4348"/>
            </a:avLst>
          </a:prstGeom>
          <a:solidFill>
            <a:srgbClr val="2A0E08"/>
          </a:solidFill>
          <a:ln w="12700">
            <a:solidFill>
              <a:srgbClr val="D63A1A"/>
            </a:solidFill>
            <a:prstDash val="solid"/>
          </a:ln>
          <a:effectLst>
            <a:outerShdw sx="100000" sy="100000" kx="0" ky="0" algn="bl" rotWithShape="0" blurRad="101600" dist="25400" dir="2700000">
              <a:srgbClr val="000000">
                <a:alpha val="35000"/>
              </a:srgbClr>
            </a:outerShdw>
          </a:effectLst>
        </p:spPr>
      </p:sp>
      <p:sp>
        <p:nvSpPr>
          <p:cNvPr id="6" name="Text 4"/>
          <p:cNvSpPr/>
          <p:nvPr/>
        </p:nvSpPr>
        <p:spPr>
          <a:xfrm>
            <a:off x="777240" y="1965960"/>
            <a:ext cx="7589520" cy="320040"/>
          </a:xfrm>
          <a:prstGeom prst="rect">
            <a:avLst/>
          </a:prstGeom>
          <a:noFill/>
          <a:ln/>
        </p:spPr>
        <p:txBody>
          <a:bodyPr wrap="square" lIns="0" tIns="0" rIns="0" bIns="0" rtlCol="0" anchor="ctr"/>
          <a:lstStyle/>
          <a:p>
            <a:pPr indent="0" marL="0">
              <a:buNone/>
            </a:pPr>
            <a:r>
              <a:rPr lang="en-US" sz="1400" b="1" dirty="0">
                <a:solidFill>
                  <a:srgbClr val="D63A1A"/>
                </a:solidFill>
                <a:latin typeface="Calibri" pitchFamily="34" charset="0"/>
                <a:ea typeface="Calibri" pitchFamily="34" charset="-122"/>
                <a:cs typeface="Calibri" pitchFamily="34" charset="-120"/>
              </a:rPr>
              <a:t>Real example of how this goes wrong</a:t>
            </a:r>
            <a:endParaRPr lang="en-US" sz="1400" dirty="0"/>
          </a:p>
        </p:txBody>
      </p:sp>
      <p:sp>
        <p:nvSpPr>
          <p:cNvPr id="7" name="Text 5"/>
          <p:cNvSpPr/>
          <p:nvPr/>
        </p:nvSpPr>
        <p:spPr>
          <a:xfrm>
            <a:off x="777240" y="2331720"/>
            <a:ext cx="7589520" cy="320040"/>
          </a:xfrm>
          <a:prstGeom prst="rect">
            <a:avLst/>
          </a:prstGeom>
          <a:noFill/>
          <a:ln/>
        </p:spPr>
        <p:txBody>
          <a:bodyPr wrap="square" lIns="0" tIns="0" rIns="0" bIns="0" rtlCol="0" anchor="ctr"/>
          <a:lstStyle/>
          <a:p>
            <a:pPr indent="0" marL="0">
              <a:buNone/>
            </a:pPr>
            <a:r>
              <a:rPr lang="en-US" sz="1150" dirty="0">
                <a:solidFill>
                  <a:srgbClr val="AAAAAA"/>
                </a:solidFill>
                <a:latin typeface="Calibri" pitchFamily="34" charset="0"/>
                <a:ea typeface="Calibri" pitchFamily="34" charset="-122"/>
                <a:cs typeface="Calibri" pitchFamily="34" charset="-120"/>
              </a:rPr>
              <a:t>Multiple orders in Bangalore are getting delayed. The AI looks at this and guesses it must be because of rain or bad weather.</a:t>
            </a:r>
            <a:endParaRPr lang="en-US" sz="1150" dirty="0"/>
          </a:p>
        </p:txBody>
      </p:sp>
      <p:sp>
        <p:nvSpPr>
          <p:cNvPr id="8" name="Shape 6"/>
          <p:cNvSpPr/>
          <p:nvPr/>
        </p:nvSpPr>
        <p:spPr>
          <a:xfrm>
            <a:off x="777240" y="2697480"/>
            <a:ext cx="7589520" cy="365760"/>
          </a:xfrm>
          <a:prstGeom prst="roundRect">
            <a:avLst>
              <a:gd name="adj" fmla="val 12500"/>
            </a:avLst>
          </a:prstGeom>
          <a:solidFill>
            <a:srgbClr val="161616"/>
          </a:solidFill>
          <a:ln/>
        </p:spPr>
      </p:sp>
      <p:sp>
        <p:nvSpPr>
          <p:cNvPr id="9" name="Text 7"/>
          <p:cNvSpPr/>
          <p:nvPr/>
        </p:nvSpPr>
        <p:spPr>
          <a:xfrm>
            <a:off x="960120" y="2697480"/>
            <a:ext cx="7223760" cy="365760"/>
          </a:xfrm>
          <a:prstGeom prst="rect">
            <a:avLst/>
          </a:prstGeom>
          <a:noFill/>
          <a:ln/>
        </p:spPr>
        <p:txBody>
          <a:bodyPr wrap="square" lIns="0" tIns="0" rIns="0" bIns="0"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AI tells users: "your order is delayed due to weather conditions in your area"</a:t>
            </a:r>
            <a:endParaRPr lang="en-US" sz="1200" dirty="0"/>
          </a:p>
        </p:txBody>
      </p:sp>
      <p:sp>
        <p:nvSpPr>
          <p:cNvPr id="10" name="Text 8"/>
          <p:cNvSpPr/>
          <p:nvPr/>
        </p:nvSpPr>
        <p:spPr>
          <a:xfrm>
            <a:off x="777240" y="3200400"/>
            <a:ext cx="7589520" cy="274320"/>
          </a:xfrm>
          <a:prstGeom prst="rect">
            <a:avLst/>
          </a:prstGeom>
          <a:noFill/>
          <a:ln/>
        </p:spPr>
        <p:txBody>
          <a:bodyPr wrap="square" lIns="0" tIns="0" rIns="0" bIns="0" rtlCol="0" anchor="ctr"/>
          <a:lstStyle/>
          <a:p>
            <a:pPr indent="0" marL="0">
              <a:buNone/>
            </a:pPr>
            <a:r>
              <a:rPr lang="en-US" sz="1400" b="1" dirty="0">
                <a:solidFill>
                  <a:srgbClr val="FFA726"/>
                </a:solidFill>
                <a:latin typeface="Calibri" pitchFamily="34" charset="0"/>
                <a:ea typeface="Calibri" pitchFamily="34" charset="-122"/>
                <a:cs typeface="Calibri" pitchFamily="34" charset="-120"/>
              </a:rPr>
              <a:t>The user steps outside and it is a completely sunny day.</a:t>
            </a:r>
            <a:endParaRPr lang="en-US" sz="1400" dirty="0"/>
          </a:p>
        </p:txBody>
      </p:sp>
      <p:sp>
        <p:nvSpPr>
          <p:cNvPr id="11" name="Text 9"/>
          <p:cNvSpPr/>
          <p:nvPr/>
        </p:nvSpPr>
        <p:spPr>
          <a:xfrm>
            <a:off x="777240" y="3520440"/>
            <a:ext cx="7589520" cy="365760"/>
          </a:xfrm>
          <a:prstGeom prst="rect">
            <a:avLst/>
          </a:prstGeom>
          <a:noFill/>
          <a:ln/>
        </p:spPr>
        <p:txBody>
          <a:bodyPr wrap="square" lIns="0" tIns="0" rIns="0" bIns="0" rtlCol="0" anchor="ctr"/>
          <a:lstStyle/>
          <a:p>
            <a:pPr indent="0" marL="0">
              <a:buNone/>
            </a:pPr>
            <a:r>
              <a:rPr lang="en-US" sz="1100" dirty="0">
                <a:solidFill>
                  <a:srgbClr val="777777"/>
                </a:solidFill>
                <a:latin typeface="Calibri" pitchFamily="34" charset="0"/>
                <a:ea typeface="Calibri" pitchFamily="34" charset="-122"/>
                <a:cs typeface="Calibri" pitchFamily="34" charset="-120"/>
              </a:rPr>
              <a:t>The actual reason was that the delivery company did not have enough staff that day. Now the user knows the app just made something up. Whatever little trust they had left is gone.</a:t>
            </a:r>
            <a:endParaRPr lang="en-US" sz="1100" dirty="0"/>
          </a:p>
        </p:txBody>
      </p:sp>
      <p:sp>
        <p:nvSpPr>
          <p:cNvPr id="12" name="Shape 10"/>
          <p:cNvSpPr/>
          <p:nvPr/>
        </p:nvSpPr>
        <p:spPr>
          <a:xfrm>
            <a:off x="548640" y="4206240"/>
            <a:ext cx="8046720" cy="594360"/>
          </a:xfrm>
          <a:prstGeom prst="roundRect">
            <a:avLst>
              <a:gd name="adj" fmla="val 12308"/>
            </a:avLst>
          </a:prstGeom>
          <a:solidFill>
            <a:srgbClr val="1A140A"/>
          </a:solidFill>
          <a:ln w="12700">
            <a:solidFill>
              <a:srgbClr val="FFA726"/>
            </a:solidFill>
            <a:prstDash val="solid"/>
          </a:ln>
        </p:spPr>
      </p:sp>
      <p:sp>
        <p:nvSpPr>
          <p:cNvPr id="13" name="Text 11"/>
          <p:cNvSpPr/>
          <p:nvPr/>
        </p:nvSpPr>
        <p:spPr>
          <a:xfrm>
            <a:off x="731520" y="4206240"/>
            <a:ext cx="7680960" cy="594360"/>
          </a:xfrm>
          <a:prstGeom prst="rect">
            <a:avLst/>
          </a:prstGeom>
          <a:noFill/>
          <a:ln/>
        </p:spPr>
        <p:txBody>
          <a:bodyPr wrap="square" lIns="0" tIns="0" rIns="0" bIns="0" rtlCol="0" anchor="ctr"/>
          <a:lstStyle/>
          <a:p>
            <a:pPr indent="0" marL="0">
              <a:buNone/>
            </a:pPr>
            <a:r>
              <a:rPr lang="en-US" sz="1200" b="1" dirty="0">
                <a:solidFill>
                  <a:srgbClr val="FFA726"/>
                </a:solidFill>
                <a:latin typeface="Calibri" pitchFamily="34" charset="0"/>
                <a:ea typeface="Calibri" pitchFamily="34" charset="-122"/>
                <a:cs typeface="Calibri" pitchFamily="34" charset="-120"/>
              </a:rPr>
              <a:t>Simple rule: AI should only tell the user what is happening right now and what will happen next. It should never try to explain why, because it does not actually know why.</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548640" y="320040"/>
            <a:ext cx="8229600" cy="5029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Measuring Success</a:t>
            </a:r>
            <a:endParaRPr lang="en-US" sz="3000" dirty="0"/>
          </a:p>
        </p:txBody>
      </p:sp>
      <p:sp>
        <p:nvSpPr>
          <p:cNvPr id="3" name="Shape 1"/>
          <p:cNvSpPr/>
          <p:nvPr/>
        </p:nvSpPr>
        <p:spPr>
          <a:xfrm>
            <a:off x="548640" y="1005840"/>
            <a:ext cx="8046720" cy="1188720"/>
          </a:xfrm>
          <a:prstGeom prst="roundRect">
            <a:avLst>
              <a:gd name="adj" fmla="val 7692"/>
            </a:avLst>
          </a:prstGeom>
          <a:solidFill>
            <a:srgbClr val="2A0E08"/>
          </a:solidFill>
          <a:ln w="12700">
            <a:solidFill>
              <a:srgbClr val="D63A1A"/>
            </a:solidFill>
            <a:prstDash val="solid"/>
          </a:ln>
          <a:effectLst>
            <a:outerShdw sx="100000" sy="100000" kx="0" ky="0" algn="bl" rotWithShape="0" blurRad="101600" dist="25400" dir="2700000">
              <a:srgbClr val="000000">
                <a:alpha val="35000"/>
              </a:srgbClr>
            </a:outerShdw>
          </a:effectLst>
        </p:spPr>
      </p:sp>
      <p:sp>
        <p:nvSpPr>
          <p:cNvPr id="4" name="Text 2"/>
          <p:cNvSpPr/>
          <p:nvPr/>
        </p:nvSpPr>
        <p:spPr>
          <a:xfrm>
            <a:off x="777240" y="1097280"/>
            <a:ext cx="2743200" cy="274320"/>
          </a:xfrm>
          <a:prstGeom prst="rect">
            <a:avLst/>
          </a:prstGeom>
          <a:noFill/>
          <a:ln/>
        </p:spPr>
        <p:txBody>
          <a:bodyPr wrap="square" lIns="0" tIns="0" rIns="0" bIns="0" rtlCol="0" anchor="ctr"/>
          <a:lstStyle/>
          <a:p>
            <a:pPr indent="0" marL="0">
              <a:buNone/>
            </a:pPr>
            <a:r>
              <a:rPr lang="en-US" sz="1300" b="1" dirty="0">
                <a:solidFill>
                  <a:srgbClr val="FF6B35"/>
                </a:solidFill>
                <a:latin typeface="Calibri" pitchFamily="34" charset="0"/>
                <a:ea typeface="Calibri" pitchFamily="34" charset="-122"/>
                <a:cs typeface="Calibri" pitchFamily="34" charset="-120"/>
              </a:rPr>
              <a:t>Primary Metric</a:t>
            </a:r>
            <a:endParaRPr lang="en-US" sz="1300" dirty="0"/>
          </a:p>
        </p:txBody>
      </p:sp>
      <p:sp>
        <p:nvSpPr>
          <p:cNvPr id="5" name="Text 3"/>
          <p:cNvSpPr/>
          <p:nvPr/>
        </p:nvSpPr>
        <p:spPr>
          <a:xfrm>
            <a:off x="777240" y="1371600"/>
            <a:ext cx="758952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Repeat purchase rate among users who experienced a delivery delay</a:t>
            </a:r>
            <a:endParaRPr lang="en-US" sz="1400" dirty="0"/>
          </a:p>
        </p:txBody>
      </p:sp>
      <p:sp>
        <p:nvSpPr>
          <p:cNvPr id="6" name="Text 4"/>
          <p:cNvSpPr/>
          <p:nvPr/>
        </p:nvSpPr>
        <p:spPr>
          <a:xfrm>
            <a:off x="777240" y="1691640"/>
            <a:ext cx="7589520" cy="320040"/>
          </a:xfrm>
          <a:prstGeom prst="rect">
            <a:avLst/>
          </a:prstGeom>
          <a:noFill/>
          <a:ln/>
        </p:spPr>
        <p:txBody>
          <a:bodyPr wrap="square" lIns="0" tIns="0" rIns="0" bIns="0" rtlCol="0" anchor="ctr"/>
          <a:lstStyle/>
          <a:p>
            <a:pPr indent="0" marL="0">
              <a:buNone/>
            </a:pPr>
            <a:r>
              <a:rPr lang="en-US" sz="1100" dirty="0">
                <a:solidFill>
                  <a:srgbClr val="AAAAAA"/>
                </a:solidFill>
                <a:latin typeface="Calibri" pitchFamily="34" charset="0"/>
                <a:ea typeface="Calibri" pitchFamily="34" charset="-122"/>
                <a:cs typeface="Calibri" pitchFamily="34" charset="-120"/>
              </a:rPr>
              <a:t>Not overall repeat rate because too many other things affect it. Isolate whether proactive communication changes if delayed-order users come back.</a:t>
            </a:r>
            <a:endParaRPr lang="en-US" sz="1100" dirty="0"/>
          </a:p>
        </p:txBody>
      </p:sp>
      <p:sp>
        <p:nvSpPr>
          <p:cNvPr id="7" name="Text 5"/>
          <p:cNvSpPr/>
          <p:nvPr/>
        </p:nvSpPr>
        <p:spPr>
          <a:xfrm>
            <a:off x="548640" y="2423160"/>
            <a:ext cx="8046720" cy="274320"/>
          </a:xfrm>
          <a:prstGeom prst="rect">
            <a:avLst/>
          </a:prstGeom>
          <a:noFill/>
          <a:ln/>
        </p:spPr>
        <p:txBody>
          <a:bodyPr wrap="square" lIns="0" tIns="0" rIns="0" bIns="0" rtlCol="0" anchor="ctr"/>
          <a:lstStyle/>
          <a:p>
            <a:pPr indent="0" marL="0">
              <a:buNone/>
            </a:pPr>
            <a:r>
              <a:rPr lang="en-US" sz="1200" dirty="0">
                <a:solidFill>
                  <a:srgbClr val="777777"/>
                </a:solidFill>
                <a:latin typeface="Calibri" pitchFamily="34" charset="0"/>
                <a:ea typeface="Calibri" pitchFamily="34" charset="-122"/>
                <a:cs typeface="Calibri" pitchFamily="34" charset="-120"/>
              </a:rPr>
              <a:t>Test: Cohorted A/B — 50% of delayed orders get new notifications, 50% get current experience. Measure over 60 days.</a:t>
            </a:r>
            <a:endParaRPr lang="en-US" sz="1200" dirty="0"/>
          </a:p>
        </p:txBody>
      </p:sp>
      <p:sp>
        <p:nvSpPr>
          <p:cNvPr id="8" name="Shape 6"/>
          <p:cNvSpPr/>
          <p:nvPr/>
        </p:nvSpPr>
        <p:spPr>
          <a:xfrm>
            <a:off x="548640" y="2926080"/>
            <a:ext cx="3840480" cy="685800"/>
          </a:xfrm>
          <a:prstGeom prst="roundRect">
            <a:avLst>
              <a:gd name="adj" fmla="val 8000"/>
            </a:avLst>
          </a:prstGeom>
          <a:solidFill>
            <a:srgbClr val="161616"/>
          </a:solidFill>
          <a:ln w="6350">
            <a:solidFill>
              <a:srgbClr val="262626"/>
            </a:solidFill>
            <a:prstDash val="solid"/>
          </a:ln>
          <a:effectLst>
            <a:outerShdw sx="100000" sy="100000" kx="0" ky="0" algn="bl" rotWithShape="0" blurRad="101600" dist="25400" dir="2700000">
              <a:srgbClr val="000000">
                <a:alpha val="35000"/>
              </a:srgbClr>
            </a:outerShdw>
          </a:effectLst>
        </p:spPr>
      </p:sp>
      <p:sp>
        <p:nvSpPr>
          <p:cNvPr id="9" name="Text 7"/>
          <p:cNvSpPr/>
          <p:nvPr/>
        </p:nvSpPr>
        <p:spPr>
          <a:xfrm>
            <a:off x="731520" y="2999232"/>
            <a:ext cx="347472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WISMO ticket rate</a:t>
            </a:r>
            <a:endParaRPr lang="en-US" sz="1300" dirty="0"/>
          </a:p>
        </p:txBody>
      </p:sp>
      <p:sp>
        <p:nvSpPr>
          <p:cNvPr id="10" name="Text 8"/>
          <p:cNvSpPr/>
          <p:nvPr/>
        </p:nvSpPr>
        <p:spPr>
          <a:xfrm>
            <a:off x="731520" y="3273552"/>
            <a:ext cx="3474720" cy="256032"/>
          </a:xfrm>
          <a:prstGeom prst="rect">
            <a:avLst/>
          </a:prstGeom>
          <a:noFill/>
          <a:ln/>
        </p:spPr>
        <p:txBody>
          <a:bodyPr wrap="square" lIns="0" tIns="0" rIns="0" bIns="0" rtlCol="0" anchor="ctr"/>
          <a:lstStyle/>
          <a:p>
            <a:pPr indent="0" marL="0">
              <a:buNone/>
            </a:pPr>
            <a:r>
              <a:rPr lang="en-US" sz="1100" dirty="0">
                <a:solidFill>
                  <a:srgbClr val="00C853"/>
                </a:solidFill>
                <a:latin typeface="Calibri" pitchFamily="34" charset="0"/>
                <a:ea typeface="Calibri" pitchFamily="34" charset="-122"/>
                <a:cs typeface="Calibri" pitchFamily="34" charset="-120"/>
              </a:rPr>
              <a:t>25-40% reduction on delayed orders</a:t>
            </a:r>
            <a:endParaRPr lang="en-US" sz="1100" dirty="0"/>
          </a:p>
        </p:txBody>
      </p:sp>
      <p:sp>
        <p:nvSpPr>
          <p:cNvPr id="11" name="Shape 9"/>
          <p:cNvSpPr/>
          <p:nvPr/>
        </p:nvSpPr>
        <p:spPr>
          <a:xfrm>
            <a:off x="4754880" y="2926080"/>
            <a:ext cx="3840480" cy="685800"/>
          </a:xfrm>
          <a:prstGeom prst="roundRect">
            <a:avLst>
              <a:gd name="adj" fmla="val 8000"/>
            </a:avLst>
          </a:prstGeom>
          <a:solidFill>
            <a:srgbClr val="161616"/>
          </a:solidFill>
          <a:ln w="6350">
            <a:solidFill>
              <a:srgbClr val="262626"/>
            </a:solidFill>
            <a:prstDash val="solid"/>
          </a:ln>
          <a:effectLst>
            <a:outerShdw sx="100000" sy="100000" kx="0" ky="0" algn="bl" rotWithShape="0" blurRad="101600" dist="25400" dir="2700000">
              <a:srgbClr val="000000">
                <a:alpha val="35000"/>
              </a:srgbClr>
            </a:outerShdw>
          </a:effectLst>
        </p:spPr>
      </p:sp>
      <p:sp>
        <p:nvSpPr>
          <p:cNvPr id="12" name="Text 10"/>
          <p:cNvSpPr/>
          <p:nvPr/>
        </p:nvSpPr>
        <p:spPr>
          <a:xfrm>
            <a:off x="4937760" y="2999232"/>
            <a:ext cx="347472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Support contact rate</a:t>
            </a:r>
            <a:endParaRPr lang="en-US" sz="1300" dirty="0"/>
          </a:p>
        </p:txBody>
      </p:sp>
      <p:sp>
        <p:nvSpPr>
          <p:cNvPr id="13" name="Text 11"/>
          <p:cNvSpPr/>
          <p:nvPr/>
        </p:nvSpPr>
        <p:spPr>
          <a:xfrm>
            <a:off x="4937760" y="3273552"/>
            <a:ext cx="3474720" cy="256032"/>
          </a:xfrm>
          <a:prstGeom prst="rect">
            <a:avLst/>
          </a:prstGeom>
          <a:noFill/>
          <a:ln/>
        </p:spPr>
        <p:txBody>
          <a:bodyPr wrap="square" lIns="0" tIns="0" rIns="0" bIns="0" rtlCol="0" anchor="ctr"/>
          <a:lstStyle/>
          <a:p>
            <a:pPr indent="0" marL="0">
              <a:buNone/>
            </a:pPr>
            <a:r>
              <a:rPr lang="en-US" sz="1100" dirty="0">
                <a:solidFill>
                  <a:srgbClr val="00C853"/>
                </a:solidFill>
                <a:latin typeface="Calibri" pitchFamily="34" charset="0"/>
                <a:ea typeface="Calibri" pitchFamily="34" charset="-122"/>
                <a:cs typeface="Calibri" pitchFamily="34" charset="-120"/>
              </a:rPr>
              <a:t>Within 48 hours of a missed ETA</a:t>
            </a:r>
            <a:endParaRPr lang="en-US" sz="1100" dirty="0"/>
          </a:p>
        </p:txBody>
      </p:sp>
      <p:sp>
        <p:nvSpPr>
          <p:cNvPr id="14" name="Shape 12"/>
          <p:cNvSpPr/>
          <p:nvPr/>
        </p:nvSpPr>
        <p:spPr>
          <a:xfrm>
            <a:off x="548640" y="3794760"/>
            <a:ext cx="3840480" cy="685800"/>
          </a:xfrm>
          <a:prstGeom prst="roundRect">
            <a:avLst>
              <a:gd name="adj" fmla="val 8000"/>
            </a:avLst>
          </a:prstGeom>
          <a:solidFill>
            <a:srgbClr val="161616"/>
          </a:solidFill>
          <a:ln w="6350">
            <a:solidFill>
              <a:srgbClr val="262626"/>
            </a:solidFill>
            <a:prstDash val="solid"/>
          </a:ln>
          <a:effectLst>
            <a:outerShdw sx="100000" sy="100000" kx="0" ky="0" algn="bl" rotWithShape="0" blurRad="101600" dist="25400" dir="2700000">
              <a:srgbClr val="000000">
                <a:alpha val="35000"/>
              </a:srgbClr>
            </a:outerShdw>
          </a:effectLst>
        </p:spPr>
      </p:sp>
      <p:sp>
        <p:nvSpPr>
          <p:cNvPr id="15" name="Text 13"/>
          <p:cNvSpPr/>
          <p:nvPr/>
        </p:nvSpPr>
        <p:spPr>
          <a:xfrm>
            <a:off x="731520" y="3867912"/>
            <a:ext cx="347472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CSAT score</a:t>
            </a:r>
            <a:endParaRPr lang="en-US" sz="1300" dirty="0"/>
          </a:p>
        </p:txBody>
      </p:sp>
      <p:sp>
        <p:nvSpPr>
          <p:cNvPr id="16" name="Text 14"/>
          <p:cNvSpPr/>
          <p:nvPr/>
        </p:nvSpPr>
        <p:spPr>
          <a:xfrm>
            <a:off x="731520" y="4142232"/>
            <a:ext cx="3474720" cy="256032"/>
          </a:xfrm>
          <a:prstGeom prst="rect">
            <a:avLst/>
          </a:prstGeom>
          <a:noFill/>
          <a:ln/>
        </p:spPr>
        <p:txBody>
          <a:bodyPr wrap="square" lIns="0" tIns="0" rIns="0" bIns="0" rtlCol="0" anchor="ctr"/>
          <a:lstStyle/>
          <a:p>
            <a:pPr indent="0" marL="0">
              <a:buNone/>
            </a:pPr>
            <a:r>
              <a:rPr lang="en-US" sz="1100" dirty="0">
                <a:solidFill>
                  <a:srgbClr val="00C853"/>
                </a:solidFill>
                <a:latin typeface="Calibri" pitchFamily="34" charset="0"/>
                <a:ea typeface="Calibri" pitchFamily="34" charset="-122"/>
                <a:cs typeface="Calibri" pitchFamily="34" charset="-120"/>
              </a:rPr>
              <a:t>On delayed orders specifically</a:t>
            </a:r>
            <a:endParaRPr lang="en-US" sz="1100" dirty="0"/>
          </a:p>
        </p:txBody>
      </p:sp>
      <p:sp>
        <p:nvSpPr>
          <p:cNvPr id="17" name="Shape 15"/>
          <p:cNvSpPr/>
          <p:nvPr/>
        </p:nvSpPr>
        <p:spPr>
          <a:xfrm>
            <a:off x="4754880" y="3794760"/>
            <a:ext cx="3840480" cy="685800"/>
          </a:xfrm>
          <a:prstGeom prst="roundRect">
            <a:avLst>
              <a:gd name="adj" fmla="val 8000"/>
            </a:avLst>
          </a:prstGeom>
          <a:solidFill>
            <a:srgbClr val="161616"/>
          </a:solidFill>
          <a:ln w="6350">
            <a:solidFill>
              <a:srgbClr val="262626"/>
            </a:solidFill>
            <a:prstDash val="solid"/>
          </a:ln>
          <a:effectLst>
            <a:outerShdw sx="100000" sy="100000" kx="0" ky="0" algn="bl" rotWithShape="0" blurRad="101600" dist="25400" dir="2700000">
              <a:srgbClr val="000000">
                <a:alpha val="35000"/>
              </a:srgbClr>
            </a:outerShdw>
          </a:effectLst>
        </p:spPr>
      </p:sp>
      <p:sp>
        <p:nvSpPr>
          <p:cNvPr id="18" name="Text 16"/>
          <p:cNvSpPr/>
          <p:nvPr/>
        </p:nvSpPr>
        <p:spPr>
          <a:xfrm>
            <a:off x="4937760" y="3867912"/>
            <a:ext cx="347472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Update coverage</a:t>
            </a:r>
            <a:endParaRPr lang="en-US" sz="1300" dirty="0"/>
          </a:p>
        </p:txBody>
      </p:sp>
      <p:sp>
        <p:nvSpPr>
          <p:cNvPr id="19" name="Text 17"/>
          <p:cNvSpPr/>
          <p:nvPr/>
        </p:nvSpPr>
        <p:spPr>
          <a:xfrm>
            <a:off x="4937760" y="4142232"/>
            <a:ext cx="3474720" cy="256032"/>
          </a:xfrm>
          <a:prstGeom prst="rect">
            <a:avLst/>
          </a:prstGeom>
          <a:noFill/>
          <a:ln/>
        </p:spPr>
        <p:txBody>
          <a:bodyPr wrap="square" lIns="0" tIns="0" rIns="0" bIns="0" rtlCol="0" anchor="ctr"/>
          <a:lstStyle/>
          <a:p>
            <a:pPr indent="0" marL="0">
              <a:buNone/>
            </a:pPr>
            <a:r>
              <a:rPr lang="en-US" sz="1100" dirty="0">
                <a:solidFill>
                  <a:srgbClr val="00C853"/>
                </a:solidFill>
                <a:latin typeface="Calibri" pitchFamily="34" charset="0"/>
                <a:ea typeface="Calibri" pitchFamily="34" charset="-122"/>
                <a:cs typeface="Calibri" pitchFamily="34" charset="-120"/>
              </a:rPr>
              <a:t>85%+ in month one — delayed orders caught and notified</a:t>
            </a:r>
            <a:endParaRPr lang="en-US" sz="1100" dirty="0"/>
          </a:p>
        </p:txBody>
      </p:sp>
      <p:sp>
        <p:nvSpPr>
          <p:cNvPr id="20" name="Shape 18"/>
          <p:cNvSpPr/>
          <p:nvPr/>
        </p:nvSpPr>
        <p:spPr>
          <a:xfrm>
            <a:off x="548640" y="4572000"/>
            <a:ext cx="8046720" cy="411480"/>
          </a:xfrm>
          <a:prstGeom prst="roundRect">
            <a:avLst>
              <a:gd name="adj" fmla="val 13333"/>
            </a:avLst>
          </a:prstGeom>
          <a:solidFill>
            <a:srgbClr val="2A0E08"/>
          </a:solidFill>
          <a:ln/>
        </p:spPr>
      </p:sp>
      <p:sp>
        <p:nvSpPr>
          <p:cNvPr id="21" name="Text 19"/>
          <p:cNvSpPr/>
          <p:nvPr/>
        </p:nvSpPr>
        <p:spPr>
          <a:xfrm>
            <a:off x="731520" y="4572000"/>
            <a:ext cx="7680960" cy="411480"/>
          </a:xfrm>
          <a:prstGeom prst="rect">
            <a:avLst/>
          </a:prstGeom>
          <a:noFill/>
          <a:ln/>
        </p:spPr>
        <p:txBody>
          <a:bodyPr wrap="square" lIns="0" tIns="0" rIns="0" bIns="0" rtlCol="0" anchor="ctr"/>
          <a:lstStyle/>
          <a:p>
            <a:pPr indent="0" marL="0">
              <a:buNone/>
            </a:pPr>
            <a:r>
              <a:rPr lang="en-US" sz="1100" b="1" dirty="0">
                <a:solidFill>
                  <a:srgbClr val="FF6B35"/>
                </a:solidFill>
                <a:latin typeface="Calibri" pitchFamily="34" charset="0"/>
                <a:ea typeface="Calibri" pitchFamily="34" charset="-122"/>
                <a:cs typeface="Calibri" pitchFamily="34" charset="-120"/>
              </a:rPr>
              <a:t>WISMO is not a tracking problem. It is the first place where POP's post-order visibility breaks. Start where the trust breaks first.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POP Shop Fulfillment Assignment</dc:title>
  <dc:subject>PptxGenJS Presentation</dc:subject>
  <dc:creator>Adarsh Raj</dc:creator>
  <cp:lastModifiedBy>Adarsh Raj</cp:lastModifiedBy>
  <cp:revision>1</cp:revision>
  <dcterms:created xsi:type="dcterms:W3CDTF">2026-06-20T18:38:21Z</dcterms:created>
  <dcterms:modified xsi:type="dcterms:W3CDTF">2026-06-20T18:38:21Z</dcterms:modified>
</cp:coreProperties>
</file>